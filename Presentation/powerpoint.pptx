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962" r:id="rId2"/>
    <p:sldId id="2949" r:id="rId3"/>
    <p:sldId id="2982" r:id="rId4"/>
    <p:sldId id="2951" r:id="rId5"/>
    <p:sldId id="2952" r:id="rId6"/>
    <p:sldId id="2953" r:id="rId7"/>
    <p:sldId id="2983" r:id="rId8"/>
    <p:sldId id="2974" r:id="rId9"/>
    <p:sldId id="2975" r:id="rId10"/>
    <p:sldId id="2987" r:id="rId11"/>
    <p:sldId id="2984" r:id="rId12"/>
    <p:sldId id="2985" r:id="rId13"/>
    <p:sldId id="2979" r:id="rId14"/>
    <p:sldId id="2986" r:id="rId15"/>
    <p:sldId id="2970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AB48"/>
    <a:srgbClr val="FFB913"/>
    <a:srgbClr val="EF5552"/>
    <a:srgbClr val="4F9856"/>
    <a:srgbClr val="141498"/>
    <a:srgbClr val="99CCFF"/>
    <a:srgbClr val="444486"/>
    <a:srgbClr val="9CADDA"/>
    <a:srgbClr val="2366E0"/>
    <a:srgbClr val="8EA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842" autoAdjust="0"/>
  </p:normalViewPr>
  <p:slideViewPr>
    <p:cSldViewPr snapToGrid="0">
      <p:cViewPr varScale="1">
        <p:scale>
          <a:sx n="119" d="100"/>
          <a:sy n="119" d="100"/>
        </p:scale>
        <p:origin x="84" y="84"/>
      </p:cViewPr>
      <p:guideLst/>
    </p:cSldViewPr>
  </p:slideViewPr>
  <p:outlineViewPr>
    <p:cViewPr>
      <p:scale>
        <a:sx n="33" d="100"/>
        <a:sy n="33" d="100"/>
      </p:scale>
      <p:origin x="0" y="-73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027"/>
    </p:cViewPr>
  </p:sorterViewPr>
  <p:notesViewPr>
    <p:cSldViewPr snapToGrid="0">
      <p:cViewPr varScale="1">
        <p:scale>
          <a:sx n="62" d="100"/>
          <a:sy n="62" d="100"/>
        </p:scale>
        <p:origin x="312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083E71-63E6-4AB9-A749-30D274B275EC}" type="datetimeFigureOut">
              <a:rPr lang="id-ID" smtClean="0"/>
              <a:t>31/05/2026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4461E84-C8C3-40A0-ABE2-2212408EAA7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486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6797-CD77-463D-B20B-E31409F4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734E-B29A-41DF-966C-F6F9807E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571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42A6-5CDE-4103-878C-3FD05FDC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54EB-FD62-4AD1-A7BA-94BF3A00A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7967F-F563-4822-B8C7-F9531DF5B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9A81E-D741-4C20-AF41-834F0764E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E94A0-45ED-473B-A985-354EA7DDF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854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C96D-9259-4193-AA29-9C555513A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325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61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16A5-B55C-4E0A-8E80-86F8981F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415D-BD3B-4BF1-8702-ACB73F73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1B6E5-8961-47C3-82F6-84F820986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15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0B64-16D0-4DD1-B453-AF666554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15406-DEC9-4387-8D9E-76AD25AAB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E20B-13AB-4D94-A3C2-7925ACFD0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749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CB62-DE42-49E8-BA74-67778CC9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D53F0-4002-468C-A76A-D5B2444B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92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51EC9-B24C-4BC9-82E4-0B3B7C3CE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198D9-BA81-4EAE-AFB9-D4959FA4F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13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809AC-7EC4-49E0-990C-A6C64F48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B1242-C231-4EEF-BCE9-DA025AF0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1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gkaran: Berongga 2">
            <a:extLst>
              <a:ext uri="{FF2B5EF4-FFF2-40B4-BE49-F238E27FC236}">
                <a16:creationId xmlns:a16="http://schemas.microsoft.com/office/drawing/2014/main" id="{F26411F6-DD6D-4892-A849-2295C08F1184}"/>
              </a:ext>
            </a:extLst>
          </p:cNvPr>
          <p:cNvSpPr/>
          <p:nvPr/>
        </p:nvSpPr>
        <p:spPr>
          <a:xfrm>
            <a:off x="10541000" y="381000"/>
            <a:ext cx="1016000" cy="1016000"/>
          </a:xfrm>
          <a:prstGeom prst="donut">
            <a:avLst/>
          </a:prstGeom>
          <a:solidFill>
            <a:srgbClr val="C8A95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d-ID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29BD0C-AF5B-4C46-8030-AD737D426ED8}"/>
              </a:ext>
            </a:extLst>
          </p:cNvPr>
          <p:cNvSpPr/>
          <p:nvPr/>
        </p:nvSpPr>
        <p:spPr>
          <a:xfrm>
            <a:off x="9906000" y="5080000"/>
            <a:ext cx="2540000" cy="2540000"/>
          </a:xfrm>
          <a:prstGeom prst="ellipse">
            <a:avLst/>
          </a:prstGeom>
          <a:solidFill>
            <a:srgbClr val="E8F0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d-ID"/>
          </a:p>
        </p:txBody>
      </p:sp>
      <p:sp>
        <p:nvSpPr>
          <p:cNvPr id="100" name="LeftPanel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GoldStrip"/>
          <p:cNvSpPr/>
          <p:nvPr/>
        </p:nvSpPr>
        <p:spPr>
          <a:xfrm>
            <a:off x="6096000" y="0"/>
            <a:ext cx="76200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itle"/>
          <p:cNvSpPr txBox="1"/>
          <p:nvPr/>
        </p:nvSpPr>
        <p:spPr>
          <a:xfrm>
            <a:off x="508000" y="1651000"/>
            <a:ext cx="5334000" cy="355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3200" b="1" dirty="0">
                <a:solidFill>
                  <a:srgbClr val="FFFFFF"/>
                </a:solidFill>
              </a:rPr>
              <a:t>Pendekatan STATIS dan Dynamic Biplot</a:t>
            </a:r>
          </a:p>
          <a:p>
            <a:pPr algn="l">
              <a:buNone/>
            </a:pPr>
            <a:r>
              <a:rPr lang="id-ID" sz="3200" b="1" dirty="0">
                <a:solidFill>
                  <a:srgbClr val="FFFFFF"/>
                </a:solidFill>
              </a:rPr>
              <a:t>untuk Analisis Spasio-Temporal</a:t>
            </a:r>
          </a:p>
          <a:p>
            <a:pPr algn="l">
              <a:buNone/>
            </a:pPr>
            <a:r>
              <a:rPr lang="id-ID" sz="3200" b="1" dirty="0">
                <a:solidFill>
                  <a:srgbClr val="FFFFFF"/>
                </a:solidFill>
              </a:rPr>
              <a:t>Sosio-Ekonomi</a:t>
            </a:r>
          </a:p>
          <a:p>
            <a:pPr algn="l">
              <a:buNone/>
            </a:pPr>
            <a:r>
              <a:rPr lang="id-ID" sz="1600" dirty="0">
                <a:solidFill>
                  <a:srgbClr val="C8A951"/>
                </a:solidFill>
              </a:rPr>
              <a:t>Studi Kasus: Provinsi Banten, DKI Jakarta, dan Jawa Barat (2020–2024)</a:t>
            </a:r>
          </a:p>
        </p:txBody>
      </p:sp>
      <p:sp>
        <p:nvSpPr>
          <p:cNvPr id="103" name="LogoPlaceholder"/>
          <p:cNvSpPr/>
          <p:nvPr/>
        </p:nvSpPr>
        <p:spPr>
          <a:xfrm>
            <a:off x="7874000" y="762000"/>
            <a:ext cx="2032000" cy="2032000"/>
          </a:xfrm>
          <a:prstGeom prst="rect">
            <a:avLst/>
          </a:prstGeom>
          <a:noFill/>
          <a:ln w="19050">
            <a:solidFill>
              <a:srgbClr val="C8A951"/>
            </a:solidFill>
          </a:ln>
        </p:spPr>
        <p:txBody>
          <a:bodyPr wrap="square" lIns="36000" tIns="36000" rIns="36000" bIns="36000" anchor="ctr"/>
          <a:lstStyle/>
          <a:p>
            <a:pPr algn="ctr">
              <a:buNone/>
            </a:pPr>
            <a:endParaRPr lang="en-US" sz="1400" b="1" dirty="0">
              <a:solidFill>
                <a:srgbClr val="003366"/>
              </a:solidFill>
            </a:endParaRPr>
          </a:p>
          <a:p>
            <a:pPr algn="ctr">
              <a:buNone/>
            </a:pPr>
            <a:endParaRPr lang="en-US" sz="1000" dirty="0">
              <a:solidFill>
                <a:srgbClr val="666666"/>
              </a:solidFill>
            </a:endParaRPr>
          </a:p>
        </p:txBody>
      </p:sp>
      <p:sp>
        <p:nvSpPr>
          <p:cNvPr id="104" name="Author"/>
          <p:cNvSpPr txBox="1"/>
          <p:nvPr/>
        </p:nvSpPr>
        <p:spPr>
          <a:xfrm>
            <a:off x="6350000" y="3302000"/>
            <a:ext cx="5080000" cy="190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200" b="1" dirty="0">
                <a:solidFill>
                  <a:srgbClr val="003366"/>
                </a:solidFill>
              </a:rPr>
              <a:t>Ammar Hanafi</a:t>
            </a:r>
          </a:p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NPM: 2206051582</a:t>
            </a:r>
          </a:p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Program Studi Sarjana Statistika</a:t>
            </a:r>
          </a:p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FMIPA — Universitas Indonesia</a:t>
            </a:r>
          </a:p>
        </p:txBody>
      </p:sp>
      <p:sp>
        <p:nvSpPr>
          <p:cNvPr id="105" name="Supervisor"/>
          <p:cNvSpPr txBox="1"/>
          <p:nvPr/>
        </p:nvSpPr>
        <p:spPr>
          <a:xfrm>
            <a:off x="6350000" y="5715000"/>
            <a:ext cx="508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Pembimbing: Dr. Dra. Yekti Widyaningsih, M.Si.</a:t>
            </a:r>
          </a:p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Sidang Skripsi — Juni 2026, Depok</a:t>
            </a:r>
          </a:p>
        </p:txBody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94D7A3FE-CEDC-48AA-A358-4F09F4397426}"/>
              </a:ext>
            </a:extLst>
          </p:cNvPr>
          <p:cNvSpPr/>
          <p:nvPr/>
        </p:nvSpPr>
        <p:spPr>
          <a:xfrm>
            <a:off x="6858000" y="2794000"/>
            <a:ext cx="4572000" cy="50800"/>
          </a:xfrm>
          <a:prstGeom prst="rect">
            <a:avLst/>
          </a:prstGeom>
          <a:solidFill>
            <a:srgbClr val="C8A95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d-ID"/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00212E73-F9C0-09D6-0C74-D763635CF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450" y="855167"/>
            <a:ext cx="1689100" cy="18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Garis Besar Presentasi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Card1Bg"/>
          <p:cNvSpPr/>
          <p:nvPr/>
        </p:nvSpPr>
        <p:spPr>
          <a:xfrm>
            <a:off x="254000" y="1270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Card1Edge"/>
          <p:cNvSpPr/>
          <p:nvPr/>
        </p:nvSpPr>
        <p:spPr>
          <a:xfrm>
            <a:off x="254000" y="1270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ard1Num"/>
          <p:cNvSpPr txBox="1"/>
          <p:nvPr/>
        </p:nvSpPr>
        <p:spPr>
          <a:xfrm>
            <a:off x="457200" y="1473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1</a:t>
            </a:r>
          </a:p>
        </p:txBody>
      </p:sp>
      <p:sp>
        <p:nvSpPr>
          <p:cNvPr id="109" name="Card1Lbl"/>
          <p:cNvSpPr txBox="1"/>
          <p:nvPr/>
        </p:nvSpPr>
        <p:spPr>
          <a:xfrm>
            <a:off x="457200" y="2286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Latar Belakang &amp; Motivasi</a:t>
            </a:r>
          </a:p>
        </p:txBody>
      </p:sp>
      <p:sp>
        <p:nvSpPr>
          <p:cNvPr id="110" name="Card2Bg"/>
          <p:cNvSpPr/>
          <p:nvPr/>
        </p:nvSpPr>
        <p:spPr>
          <a:xfrm>
            <a:off x="3238500" y="1270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Card2Edge"/>
          <p:cNvSpPr/>
          <p:nvPr/>
        </p:nvSpPr>
        <p:spPr>
          <a:xfrm>
            <a:off x="3238500" y="1270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Card2Num"/>
          <p:cNvSpPr txBox="1"/>
          <p:nvPr/>
        </p:nvSpPr>
        <p:spPr>
          <a:xfrm>
            <a:off x="3441700" y="1473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2</a:t>
            </a:r>
          </a:p>
        </p:txBody>
      </p:sp>
      <p:sp>
        <p:nvSpPr>
          <p:cNvPr id="113" name="Card2Lbl"/>
          <p:cNvSpPr txBox="1"/>
          <p:nvPr/>
        </p:nvSpPr>
        <p:spPr>
          <a:xfrm>
            <a:off x="3441700" y="2286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Rumusan Masalah &amp; Tujuan</a:t>
            </a:r>
          </a:p>
        </p:txBody>
      </p:sp>
      <p:sp>
        <p:nvSpPr>
          <p:cNvPr id="114" name="Card3Bg"/>
          <p:cNvSpPr/>
          <p:nvPr/>
        </p:nvSpPr>
        <p:spPr>
          <a:xfrm>
            <a:off x="6223000" y="1270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Card3Edge"/>
          <p:cNvSpPr/>
          <p:nvPr/>
        </p:nvSpPr>
        <p:spPr>
          <a:xfrm>
            <a:off x="6223000" y="1270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Card3Num"/>
          <p:cNvSpPr txBox="1"/>
          <p:nvPr/>
        </p:nvSpPr>
        <p:spPr>
          <a:xfrm>
            <a:off x="6426200" y="1473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3</a:t>
            </a:r>
          </a:p>
        </p:txBody>
      </p:sp>
      <p:sp>
        <p:nvSpPr>
          <p:cNvPr id="117" name="Card3Lbl"/>
          <p:cNvSpPr txBox="1"/>
          <p:nvPr/>
        </p:nvSpPr>
        <p:spPr>
          <a:xfrm>
            <a:off x="6426200" y="2286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Data &amp; Indikator</a:t>
            </a:r>
          </a:p>
        </p:txBody>
      </p:sp>
      <p:sp>
        <p:nvSpPr>
          <p:cNvPr id="118" name="Card4Bg"/>
          <p:cNvSpPr/>
          <p:nvPr/>
        </p:nvSpPr>
        <p:spPr>
          <a:xfrm>
            <a:off x="9207500" y="1270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Card4Edge"/>
          <p:cNvSpPr/>
          <p:nvPr/>
        </p:nvSpPr>
        <p:spPr>
          <a:xfrm>
            <a:off x="9207500" y="1270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Card4Num"/>
          <p:cNvSpPr txBox="1"/>
          <p:nvPr/>
        </p:nvSpPr>
        <p:spPr>
          <a:xfrm>
            <a:off x="9410700" y="1473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4</a:t>
            </a:r>
          </a:p>
        </p:txBody>
      </p:sp>
      <p:sp>
        <p:nvSpPr>
          <p:cNvPr id="121" name="Card4Lbl"/>
          <p:cNvSpPr txBox="1"/>
          <p:nvPr/>
        </p:nvSpPr>
        <p:spPr>
          <a:xfrm>
            <a:off x="9410700" y="2286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Metode STATIS</a:t>
            </a:r>
          </a:p>
        </p:txBody>
      </p:sp>
      <p:sp>
        <p:nvSpPr>
          <p:cNvPr id="122" name="Card5Bg"/>
          <p:cNvSpPr/>
          <p:nvPr/>
        </p:nvSpPr>
        <p:spPr>
          <a:xfrm>
            <a:off x="1746250" y="3683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Card5Edge"/>
          <p:cNvSpPr/>
          <p:nvPr/>
        </p:nvSpPr>
        <p:spPr>
          <a:xfrm>
            <a:off x="1746250" y="3683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rd5Num"/>
          <p:cNvSpPr txBox="1"/>
          <p:nvPr/>
        </p:nvSpPr>
        <p:spPr>
          <a:xfrm>
            <a:off x="1949450" y="3886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5</a:t>
            </a:r>
          </a:p>
        </p:txBody>
      </p:sp>
      <p:sp>
        <p:nvSpPr>
          <p:cNvPr id="125" name="Card5Lbl"/>
          <p:cNvSpPr txBox="1"/>
          <p:nvPr/>
        </p:nvSpPr>
        <p:spPr>
          <a:xfrm>
            <a:off x="1949450" y="4699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Hasil: Inter-Struktur</a:t>
            </a:r>
          </a:p>
        </p:txBody>
      </p:sp>
      <p:sp>
        <p:nvSpPr>
          <p:cNvPr id="126" name="Card6Bg"/>
          <p:cNvSpPr/>
          <p:nvPr/>
        </p:nvSpPr>
        <p:spPr>
          <a:xfrm>
            <a:off x="4730750" y="3683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Card6Edge"/>
          <p:cNvSpPr/>
          <p:nvPr/>
        </p:nvSpPr>
        <p:spPr>
          <a:xfrm>
            <a:off x="4730750" y="3683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ard6Num"/>
          <p:cNvSpPr txBox="1"/>
          <p:nvPr/>
        </p:nvSpPr>
        <p:spPr>
          <a:xfrm>
            <a:off x="4933950" y="3886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6</a:t>
            </a:r>
          </a:p>
        </p:txBody>
      </p:sp>
      <p:sp>
        <p:nvSpPr>
          <p:cNvPr id="129" name="Card6Lbl"/>
          <p:cNvSpPr txBox="1"/>
          <p:nvPr/>
        </p:nvSpPr>
        <p:spPr>
          <a:xfrm>
            <a:off x="4933950" y="4699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Hasil: Trajektori &amp; Klaster</a:t>
            </a:r>
          </a:p>
        </p:txBody>
      </p:sp>
      <p:sp>
        <p:nvSpPr>
          <p:cNvPr id="130" name="Card7Bg"/>
          <p:cNvSpPr/>
          <p:nvPr/>
        </p:nvSpPr>
        <p:spPr>
          <a:xfrm>
            <a:off x="7715250" y="3683000"/>
            <a:ext cx="2730500" cy="2159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Card7Edge"/>
          <p:cNvSpPr/>
          <p:nvPr/>
        </p:nvSpPr>
        <p:spPr>
          <a:xfrm>
            <a:off x="7715250" y="3683000"/>
            <a:ext cx="76200" cy="2159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Card7Num"/>
          <p:cNvSpPr txBox="1"/>
          <p:nvPr/>
        </p:nvSpPr>
        <p:spPr>
          <a:xfrm>
            <a:off x="7918450" y="3886200"/>
            <a:ext cx="76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4400" b="1" dirty="0">
                <a:solidFill>
                  <a:srgbClr val="003366"/>
                </a:solidFill>
              </a:rPr>
              <a:t>7</a:t>
            </a:r>
          </a:p>
        </p:txBody>
      </p:sp>
      <p:sp>
        <p:nvSpPr>
          <p:cNvPr id="133" name="Card7Lbl"/>
          <p:cNvSpPr txBox="1"/>
          <p:nvPr/>
        </p:nvSpPr>
        <p:spPr>
          <a:xfrm>
            <a:off x="7918450" y="4699000"/>
            <a:ext cx="23241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Kesimpulan &amp; Implikasi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383238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Latar Belakang: Mengapa Penelitian Ini Penting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Subheading"/>
          <p:cNvSpPr txBox="1"/>
          <p:nvPr/>
        </p:nvSpPr>
        <p:spPr>
          <a:xfrm>
            <a:off x="731520" y="1066800"/>
            <a:ext cx="70789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Kesenjangan Pembangunan Stabil Lintas Waktu di Jawa Bagian Barat</a:t>
            </a:r>
          </a:p>
        </p:txBody>
      </p:sp>
      <p:sp>
        <p:nvSpPr>
          <p:cNvPr id="107" name="Bullets"/>
          <p:cNvSpPr txBox="1"/>
          <p:nvPr/>
        </p:nvSpPr>
        <p:spPr>
          <a:xfrm>
            <a:off x="731520" y="1714500"/>
            <a:ext cx="6837680" cy="355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buFont typeface="Arial"/>
              <a:buChar char="•"/>
            </a:pPr>
            <a:r>
              <a:rPr lang="id-ID" sz="1600" b="1" dirty="0">
                <a:solidFill>
                  <a:srgbClr val="003366"/>
                </a:solidFill>
              </a:rPr>
              <a:t>Konsentrasi ekonomi nasional. </a:t>
            </a:r>
            <a:r>
              <a:rPr lang="id-ID" sz="1600" dirty="0">
                <a:solidFill>
                  <a:srgbClr val="1F4E79"/>
                </a:solidFill>
              </a:rPr>
              <a:t>3 provinsi menyumbang sebagian besar PDRB nasional, tetapi kesenjangan intra-provinsi sangat lebar.</a:t>
            </a:r>
          </a:p>
          <a:p>
            <a:pPr marL="228600" indent="-228600">
              <a:buFont typeface="Arial"/>
              <a:buChar char="•"/>
            </a:pPr>
            <a:r>
              <a:rPr lang="id-ID" sz="1600" b="1" dirty="0">
                <a:solidFill>
                  <a:srgbClr val="003366"/>
                </a:solidFill>
              </a:rPr>
              <a:t>Pandemi COVID-19 (2020). </a:t>
            </a:r>
            <a:r>
              <a:rPr lang="id-ID" sz="1600" dirty="0">
                <a:solidFill>
                  <a:srgbClr val="1F4E79"/>
                </a:solidFill>
              </a:rPr>
              <a:t>Fluktuasi struktural menghantam 41 kabupaten/kota secara tidak merata.</a:t>
            </a:r>
          </a:p>
          <a:p>
            <a:pPr marL="228600" indent="-228600">
              <a:buFont typeface="Arial"/>
              <a:buChar char="•"/>
            </a:pPr>
            <a:r>
              <a:rPr lang="id-ID" sz="1600" b="1" dirty="0">
                <a:solidFill>
                  <a:srgbClr val="003366"/>
                </a:solidFill>
              </a:rPr>
              <a:t>Pemulihan 2021–2024 yang tidak seragam. </a:t>
            </a:r>
            <a:r>
              <a:rPr lang="id-ID" sz="1600" dirty="0">
                <a:solidFill>
                  <a:srgbClr val="1F4E79"/>
                </a:solidFill>
              </a:rPr>
              <a:t>Wilayah metropolitan bangkit cepat; pedalaman selatan stagnan.</a:t>
            </a:r>
          </a:p>
          <a:p>
            <a:pPr marL="228600" indent="-228600">
              <a:buFont typeface="Arial"/>
              <a:buChar char="•"/>
            </a:pPr>
            <a:r>
              <a:rPr lang="id-ID" sz="1600" b="1" dirty="0">
                <a:solidFill>
                  <a:srgbClr val="003366"/>
                </a:solidFill>
              </a:rPr>
              <a:t>Keterbatasan analisis konvensional. </a:t>
            </a:r>
            <a:r>
              <a:rPr lang="id-ID" sz="1600" dirty="0">
                <a:solidFill>
                  <a:srgbClr val="1F4E79"/>
                </a:solidFill>
              </a:rPr>
              <a:t>PCA tahunan kehilangan struktur temporal; perlu kerangka tiga-arah terpadu.</a:t>
            </a:r>
          </a:p>
          <a:p>
            <a:pPr marL="228600" indent="-228600">
              <a:buFont typeface="Arial"/>
              <a:buChar char="•"/>
            </a:pPr>
            <a:r>
              <a:rPr lang="id-ID" sz="1600" b="1" dirty="0">
                <a:solidFill>
                  <a:srgbClr val="003366"/>
                </a:solidFill>
              </a:rPr>
              <a:t>Kebutuhan kebijakan terarah. </a:t>
            </a:r>
            <a:r>
              <a:rPr lang="id-ID" sz="1600" dirty="0">
                <a:solidFill>
                  <a:srgbClr val="1F4E79"/>
                </a:solidFill>
              </a:rPr>
              <a:t>Bukti spasio-temporal terpadu sebagai dasar intervensi targeted regional.</a:t>
            </a:r>
          </a:p>
        </p:txBody>
      </p:sp>
      <p:sp>
        <p:nvSpPr>
          <p:cNvPr id="108" name="CalloutBg"/>
          <p:cNvSpPr/>
          <p:nvPr/>
        </p:nvSpPr>
        <p:spPr>
          <a:xfrm>
            <a:off x="731520" y="5334000"/>
            <a:ext cx="6837680" cy="952500"/>
          </a:xfrm>
          <a:prstGeom prst="rect">
            <a:avLst/>
          </a:prstGeom>
          <a:solidFill>
            <a:srgbClr val="FAF5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CalloutEdge"/>
          <p:cNvSpPr/>
          <p:nvPr/>
        </p:nvSpPr>
        <p:spPr>
          <a:xfrm>
            <a:off x="731520" y="5334000"/>
            <a:ext cx="63500" cy="9525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Callout"/>
          <p:cNvSpPr txBox="1"/>
          <p:nvPr/>
        </p:nvSpPr>
        <p:spPr>
          <a:xfrm>
            <a:off x="985519" y="5486400"/>
            <a:ext cx="67310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C8A951"/>
                </a:solidFill>
              </a:rPr>
              <a:t>PERTANYAAN UTAMA</a:t>
            </a:r>
          </a:p>
          <a:p>
            <a:pPr algn="l">
              <a:buNone/>
            </a:pPr>
            <a:r>
              <a:rPr lang="id-ID" sz="1700" b="1" dirty="0">
                <a:solidFill>
                  <a:srgbClr val="FFFFFF"/>
                </a:solidFill>
              </a:rPr>
              <a:t>Apakah kesenjangan ini bersifat temporer (akibat pandemi) atau struktural (stabil lintas waktu)?</a:t>
            </a:r>
          </a:p>
        </p:txBody>
      </p:sp>
      <p:sp>
        <p:nvSpPr>
          <p:cNvPr id="111" name="MapBg"/>
          <p:cNvSpPr/>
          <p:nvPr/>
        </p:nvSpPr>
        <p:spPr>
          <a:xfrm>
            <a:off x="7874000" y="1397000"/>
            <a:ext cx="3937000" cy="3086100"/>
          </a:xfrm>
          <a:prstGeom prst="rect">
            <a:avLst/>
          </a:prstGeom>
          <a:solidFill>
            <a:srgbClr val="F5F5F5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MapCaption"/>
          <p:cNvSpPr txBox="1"/>
          <p:nvPr/>
        </p:nvSpPr>
        <p:spPr>
          <a:xfrm>
            <a:off x="7874000" y="4546600"/>
            <a:ext cx="393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300" i="1" dirty="0">
                <a:solidFill>
                  <a:srgbClr val="1F4E79"/>
                </a:solidFill>
              </a:rPr>
              <a:t>Gambar 1. Tiga provinsi Jawa bagian barat (N=41)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03 / 15</a:t>
            </a:r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87A2F2F1-D881-307F-9D3B-308916753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104" y="1566245"/>
            <a:ext cx="3596791" cy="274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2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Rumusan Masalah &amp; Tujuan Penelitian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RQHeader"/>
          <p:cNvSpPr txBox="1"/>
          <p:nvPr/>
        </p:nvSpPr>
        <p:spPr>
          <a:xfrm>
            <a:off x="731520" y="1066800"/>
            <a:ext cx="109016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C8A951"/>
                </a:solidFill>
              </a:rPr>
              <a:t>RUMUSAN MASALAH</a:t>
            </a:r>
          </a:p>
        </p:txBody>
      </p:sp>
      <p:sp>
        <p:nvSpPr>
          <p:cNvPr id="107" name="RQ1Bg"/>
          <p:cNvSpPr/>
          <p:nvPr/>
        </p:nvSpPr>
        <p:spPr>
          <a:xfrm>
            <a:off x="731520" y="1524000"/>
            <a:ext cx="5212080" cy="177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RQ1Edge"/>
          <p:cNvSpPr/>
          <p:nvPr/>
        </p:nvSpPr>
        <p:spPr>
          <a:xfrm>
            <a:off x="731520" y="1524000"/>
            <a:ext cx="63500" cy="177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RQ1Num"/>
          <p:cNvSpPr txBox="1"/>
          <p:nvPr/>
        </p:nvSpPr>
        <p:spPr>
          <a:xfrm>
            <a:off x="985519" y="1676400"/>
            <a:ext cx="76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C8A951"/>
                </a:solidFill>
              </a:rPr>
              <a:t>RQ1</a:t>
            </a:r>
          </a:p>
        </p:txBody>
      </p:sp>
      <p:sp>
        <p:nvSpPr>
          <p:cNvPr id="110" name="RQ1Text"/>
          <p:cNvSpPr txBox="1"/>
          <p:nvPr/>
        </p:nvSpPr>
        <p:spPr>
          <a:xfrm>
            <a:off x="985519" y="2108200"/>
            <a:ext cx="480568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dirty="0">
                <a:solidFill>
                  <a:srgbClr val="1F4E79"/>
                </a:solidFill>
              </a:rPr>
              <a:t>Seberapa stabil hierarki relatif 41 kabupaten/kota selama 2020–2024 di tengah goncangan pandemi?</a:t>
            </a:r>
          </a:p>
        </p:txBody>
      </p:sp>
      <p:sp>
        <p:nvSpPr>
          <p:cNvPr id="111" name="RQ2Bg"/>
          <p:cNvSpPr/>
          <p:nvPr/>
        </p:nvSpPr>
        <p:spPr>
          <a:xfrm>
            <a:off x="6248400" y="1524000"/>
            <a:ext cx="5486400" cy="177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RQ2Edge"/>
          <p:cNvSpPr/>
          <p:nvPr/>
        </p:nvSpPr>
        <p:spPr>
          <a:xfrm>
            <a:off x="6248400" y="1524000"/>
            <a:ext cx="63500" cy="177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RQ2Num"/>
          <p:cNvSpPr txBox="1"/>
          <p:nvPr/>
        </p:nvSpPr>
        <p:spPr>
          <a:xfrm>
            <a:off x="6477000" y="1676400"/>
            <a:ext cx="63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C8A951"/>
                </a:solidFill>
              </a:rPr>
              <a:t>RQ2</a:t>
            </a:r>
          </a:p>
        </p:txBody>
      </p:sp>
      <p:sp>
        <p:nvSpPr>
          <p:cNvPr id="114" name="RQ2Text"/>
          <p:cNvSpPr txBox="1"/>
          <p:nvPr/>
        </p:nvSpPr>
        <p:spPr>
          <a:xfrm>
            <a:off x="6477000" y="2108200"/>
            <a:ext cx="51054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dirty="0">
                <a:solidFill>
                  <a:srgbClr val="1F4E79"/>
                </a:solidFill>
              </a:rPr>
              <a:t>Bagaimana pola trajektori spasio-temporal saat dianalisis bersamaan lintas indikator dan tahun?</a:t>
            </a:r>
          </a:p>
        </p:txBody>
      </p:sp>
      <p:sp>
        <p:nvSpPr>
          <p:cNvPr id="115" name="ObjHeader"/>
          <p:cNvSpPr txBox="1"/>
          <p:nvPr/>
        </p:nvSpPr>
        <p:spPr>
          <a:xfrm>
            <a:off x="731520" y="3581400"/>
            <a:ext cx="109016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C8A951"/>
                </a:solidFill>
              </a:rPr>
              <a:t>TUJUAN PENELITIAN</a:t>
            </a:r>
          </a:p>
        </p:txBody>
      </p:sp>
      <p:sp>
        <p:nvSpPr>
          <p:cNvPr id="116" name="Obj1Bg"/>
          <p:cNvSpPr/>
          <p:nvPr/>
        </p:nvSpPr>
        <p:spPr>
          <a:xfrm>
            <a:off x="501650" y="4038600"/>
            <a:ext cx="3619500" cy="222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Obj1Num"/>
          <p:cNvSpPr txBox="1"/>
          <p:nvPr/>
        </p:nvSpPr>
        <p:spPr>
          <a:xfrm>
            <a:off x="730250" y="4216400"/>
            <a:ext cx="635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C8A951"/>
                </a:solidFill>
              </a:rPr>
              <a:t>1</a:t>
            </a:r>
          </a:p>
        </p:txBody>
      </p:sp>
      <p:sp>
        <p:nvSpPr>
          <p:cNvPr id="118" name="Obj1Text"/>
          <p:cNvSpPr txBox="1"/>
          <p:nvPr/>
        </p:nvSpPr>
        <p:spPr>
          <a:xfrm>
            <a:off x="730250" y="4648200"/>
            <a:ext cx="3238500" cy="148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dirty="0">
                <a:solidFill>
                  <a:srgbClr val="99CCFF"/>
                </a:solidFill>
              </a:rPr>
              <a:t>Mengevaluasi stabilitas longitudinal melalui koefisien RV lintas tahun 2020–2024.</a:t>
            </a:r>
          </a:p>
        </p:txBody>
      </p:sp>
      <p:sp>
        <p:nvSpPr>
          <p:cNvPr id="119" name="Obj2Bg"/>
          <p:cNvSpPr/>
          <p:nvPr/>
        </p:nvSpPr>
        <p:spPr>
          <a:xfrm>
            <a:off x="4286250" y="4038600"/>
            <a:ext cx="3619500" cy="222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Obj2Num"/>
          <p:cNvSpPr txBox="1"/>
          <p:nvPr/>
        </p:nvSpPr>
        <p:spPr>
          <a:xfrm>
            <a:off x="4514850" y="4216400"/>
            <a:ext cx="635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C8A951"/>
                </a:solidFill>
              </a:rPr>
              <a:t>2</a:t>
            </a:r>
          </a:p>
        </p:txBody>
      </p:sp>
      <p:sp>
        <p:nvSpPr>
          <p:cNvPr id="121" name="Obj2Text"/>
          <p:cNvSpPr txBox="1"/>
          <p:nvPr/>
        </p:nvSpPr>
        <p:spPr>
          <a:xfrm>
            <a:off x="4514850" y="4648200"/>
            <a:ext cx="3238500" cy="148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dirty="0">
                <a:solidFill>
                  <a:srgbClr val="99CCFF"/>
                </a:solidFill>
              </a:rPr>
              <a:t>Memetakan trajektori spasio-temporal menggunakan Dynamic Biplot.</a:t>
            </a:r>
          </a:p>
        </p:txBody>
      </p:sp>
      <p:sp>
        <p:nvSpPr>
          <p:cNvPr id="122" name="Obj3Bg"/>
          <p:cNvSpPr/>
          <p:nvPr/>
        </p:nvSpPr>
        <p:spPr>
          <a:xfrm>
            <a:off x="8070850" y="4038600"/>
            <a:ext cx="3619500" cy="222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Obj3Num"/>
          <p:cNvSpPr txBox="1"/>
          <p:nvPr/>
        </p:nvSpPr>
        <p:spPr>
          <a:xfrm>
            <a:off x="8299450" y="4216400"/>
            <a:ext cx="635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200" b="1" dirty="0">
                <a:solidFill>
                  <a:srgbClr val="C8A951"/>
                </a:solidFill>
              </a:rPr>
              <a:t>3</a:t>
            </a:r>
          </a:p>
        </p:txBody>
      </p:sp>
      <p:sp>
        <p:nvSpPr>
          <p:cNvPr id="124" name="Obj3Text"/>
          <p:cNvSpPr txBox="1"/>
          <p:nvPr/>
        </p:nvSpPr>
        <p:spPr>
          <a:xfrm>
            <a:off x="8299450" y="4648200"/>
            <a:ext cx="3238500" cy="1485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600" dirty="0">
                <a:solidFill>
                  <a:srgbClr val="99CCFF"/>
                </a:solidFill>
              </a:rPr>
              <a:t>Mengelompokkan wilayah ke dalam klaster yang dapat diinterpretasi (k = 3).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3864854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Data: 41 Wilayah × 11 Indikator × 5 Tahun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HREGIONSN41Bg"/>
          <p:cNvSpPr/>
          <p:nvPr/>
        </p:nvSpPr>
        <p:spPr>
          <a:xfrm>
            <a:off x="355600" y="1143000"/>
            <a:ext cx="3683000" cy="482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HREGIONSN41Lbl"/>
          <p:cNvSpPr txBox="1"/>
          <p:nvPr/>
        </p:nvSpPr>
        <p:spPr>
          <a:xfrm>
            <a:off x="355600" y="1143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C8A951"/>
                </a:solidFill>
              </a:rPr>
              <a:t>WILAYAH  (N = 41)</a:t>
            </a:r>
          </a:p>
        </p:txBody>
      </p:sp>
      <p:sp>
        <p:nvSpPr>
          <p:cNvPr id="108" name="C1Body"/>
          <p:cNvSpPr/>
          <p:nvPr/>
        </p:nvSpPr>
        <p:spPr>
          <a:xfrm>
            <a:off x="355600" y="1625600"/>
            <a:ext cx="3683000" cy="46609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C1Body"/>
          <p:cNvSpPr txBox="1"/>
          <p:nvPr/>
        </p:nvSpPr>
        <p:spPr>
          <a:xfrm>
            <a:off x="584200" y="1778000"/>
            <a:ext cx="3225800" cy="438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700" b="1" dirty="0">
                <a:solidFill>
                  <a:srgbClr val="003366"/>
                </a:solidFill>
              </a:rPr>
              <a:t>41 kabupaten/kota</a:t>
            </a:r>
          </a:p>
          <a:p>
            <a:pPr marL="171450" indent="-171450">
              <a:buFont typeface="Arial"/>
              <a:buChar char="•"/>
            </a:pPr>
            <a:r>
              <a:rPr lang="id-ID" sz="1500" dirty="0">
                <a:solidFill>
                  <a:srgbClr val="1F4E79"/>
                </a:solidFill>
              </a:rPr>
              <a:t>8 di Banten</a:t>
            </a:r>
          </a:p>
          <a:p>
            <a:pPr marL="171450" indent="-171450">
              <a:buFont typeface="Arial"/>
              <a:buChar char="•"/>
            </a:pPr>
            <a:r>
              <a:rPr lang="id-ID" sz="1500" dirty="0">
                <a:solidFill>
                  <a:srgbClr val="1F4E79"/>
                </a:solidFill>
              </a:rPr>
              <a:t>6 di DKI Jakarta</a:t>
            </a:r>
          </a:p>
          <a:p>
            <a:pPr marL="171450" indent="-171450">
              <a:buFont typeface="Arial"/>
              <a:buChar char="•"/>
            </a:pPr>
            <a:r>
              <a:rPr lang="id-ID" sz="1500" dirty="0">
                <a:solidFill>
                  <a:srgbClr val="1F4E79"/>
                </a:solidFill>
              </a:rPr>
              <a:t>27 di Jawa Barat</a:t>
            </a:r>
          </a:p>
          <a:p>
            <a:pPr algn="l">
              <a:buNone/>
            </a:pPr>
            <a:r>
              <a:rPr lang="id-ID" sz="1300" i="1" dirty="0">
                <a:solidFill>
                  <a:srgbClr val="1F4E79"/>
                </a:solidFill>
              </a:rPr>
              <a:t>Sumber: BPS, 2020–2024</a:t>
            </a:r>
          </a:p>
        </p:txBody>
      </p:sp>
      <p:sp>
        <p:nvSpPr>
          <p:cNvPr id="110" name="HINDICATORS11Bg"/>
          <p:cNvSpPr/>
          <p:nvPr/>
        </p:nvSpPr>
        <p:spPr>
          <a:xfrm>
            <a:off x="4254500" y="1143000"/>
            <a:ext cx="3683000" cy="482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HINDICATORS11Lbl"/>
          <p:cNvSpPr txBox="1"/>
          <p:nvPr/>
        </p:nvSpPr>
        <p:spPr>
          <a:xfrm>
            <a:off x="4254500" y="1143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C8A951"/>
                </a:solidFill>
              </a:rPr>
              <a:t>INDIKATOR  (11)</a:t>
            </a:r>
          </a:p>
        </p:txBody>
      </p:sp>
      <p:sp>
        <p:nvSpPr>
          <p:cNvPr id="112" name="C2BodyBg"/>
          <p:cNvSpPr/>
          <p:nvPr/>
        </p:nvSpPr>
        <p:spPr>
          <a:xfrm>
            <a:off x="4254500" y="1625600"/>
            <a:ext cx="3683000" cy="46609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C2HRow"/>
          <p:cNvSpPr/>
          <p:nvPr/>
        </p:nvSpPr>
        <p:spPr>
          <a:xfrm>
            <a:off x="4457700" y="1752600"/>
            <a:ext cx="3327400" cy="381000"/>
          </a:xfrm>
          <a:prstGeom prst="rect">
            <a:avLst/>
          </a:prstGeom>
          <a:solidFill>
            <a:srgbClr val="F0EA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2HDim"/>
          <p:cNvSpPr txBox="1"/>
          <p:nvPr/>
        </p:nvSpPr>
        <p:spPr>
          <a:xfrm>
            <a:off x="4559300" y="1752600"/>
            <a:ext cx="1397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400" b="1" dirty="0">
                <a:solidFill>
                  <a:srgbClr val="141498"/>
                </a:solidFill>
              </a:rPr>
              <a:t>Dimensi</a:t>
            </a:r>
          </a:p>
        </p:txBody>
      </p:sp>
      <p:sp>
        <p:nvSpPr>
          <p:cNvPr id="115" name="C2HInd"/>
          <p:cNvSpPr txBox="1"/>
          <p:nvPr/>
        </p:nvSpPr>
        <p:spPr>
          <a:xfrm>
            <a:off x="5854700" y="1752600"/>
            <a:ext cx="19304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400" b="1" dirty="0">
                <a:solidFill>
                  <a:srgbClr val="141498"/>
                </a:solidFill>
              </a:rPr>
              <a:t>Indikator</a:t>
            </a:r>
          </a:p>
        </p:txBody>
      </p:sp>
      <p:sp>
        <p:nvSpPr>
          <p:cNvPr id="116" name="C2R0Bg"/>
          <p:cNvSpPr/>
          <p:nvPr/>
        </p:nvSpPr>
        <p:spPr>
          <a:xfrm>
            <a:off x="4457700" y="2133600"/>
            <a:ext cx="3327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C2R0Dim"/>
          <p:cNvSpPr txBox="1"/>
          <p:nvPr/>
        </p:nvSpPr>
        <p:spPr>
          <a:xfrm>
            <a:off x="4559300" y="21336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Ekonomi</a:t>
            </a:r>
          </a:p>
        </p:txBody>
      </p:sp>
      <p:sp>
        <p:nvSpPr>
          <p:cNvPr id="118" name="C2R0Ind"/>
          <p:cNvSpPr txBox="1"/>
          <p:nvPr/>
        </p:nvSpPr>
        <p:spPr>
          <a:xfrm>
            <a:off x="5854700" y="21336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PDRB ADHK</a:t>
            </a:r>
          </a:p>
        </p:txBody>
      </p:sp>
      <p:sp>
        <p:nvSpPr>
          <p:cNvPr id="119" name="C2R1Dim"/>
          <p:cNvSpPr txBox="1"/>
          <p:nvPr/>
        </p:nvSpPr>
        <p:spPr>
          <a:xfrm>
            <a:off x="4559300" y="26162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Kemiskinan</a:t>
            </a:r>
          </a:p>
        </p:txBody>
      </p:sp>
      <p:sp>
        <p:nvSpPr>
          <p:cNvPr id="120" name="C2R1Ind"/>
          <p:cNvSpPr txBox="1"/>
          <p:nvPr/>
        </p:nvSpPr>
        <p:spPr>
          <a:xfrm>
            <a:off x="5854700" y="26162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PPM, GK, PKKP</a:t>
            </a:r>
          </a:p>
        </p:txBody>
      </p:sp>
      <p:sp>
        <p:nvSpPr>
          <p:cNvPr id="121" name="C2R2Bg"/>
          <p:cNvSpPr/>
          <p:nvPr/>
        </p:nvSpPr>
        <p:spPr>
          <a:xfrm>
            <a:off x="4457700" y="3098800"/>
            <a:ext cx="3327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C2R2Dim"/>
          <p:cNvSpPr txBox="1"/>
          <p:nvPr/>
        </p:nvSpPr>
        <p:spPr>
          <a:xfrm>
            <a:off x="4559300" y="30988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Tenaga Kerja</a:t>
            </a:r>
          </a:p>
        </p:txBody>
      </p:sp>
      <p:sp>
        <p:nvSpPr>
          <p:cNvPr id="123" name="C2R2Ind"/>
          <p:cNvSpPr txBox="1"/>
          <p:nvPr/>
        </p:nvSpPr>
        <p:spPr>
          <a:xfrm>
            <a:off x="5854700" y="30988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TPT, TPAK</a:t>
            </a:r>
          </a:p>
        </p:txBody>
      </p:sp>
      <p:sp>
        <p:nvSpPr>
          <p:cNvPr id="124" name="C2R3Dim"/>
          <p:cNvSpPr txBox="1"/>
          <p:nvPr/>
        </p:nvSpPr>
        <p:spPr>
          <a:xfrm>
            <a:off x="4559300" y="35814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Pendidikan</a:t>
            </a:r>
          </a:p>
        </p:txBody>
      </p:sp>
      <p:sp>
        <p:nvSpPr>
          <p:cNvPr id="125" name="C2R3Ind"/>
          <p:cNvSpPr txBox="1"/>
          <p:nvPr/>
        </p:nvSpPr>
        <p:spPr>
          <a:xfrm>
            <a:off x="5854700" y="35814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RLS (Rata-rata Lama Sekolah)</a:t>
            </a:r>
          </a:p>
        </p:txBody>
      </p:sp>
      <p:sp>
        <p:nvSpPr>
          <p:cNvPr id="126" name="C2R4Bg"/>
          <p:cNvSpPr/>
          <p:nvPr/>
        </p:nvSpPr>
        <p:spPr>
          <a:xfrm>
            <a:off x="4457700" y="4064000"/>
            <a:ext cx="3327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C2R4Dim"/>
          <p:cNvSpPr txBox="1"/>
          <p:nvPr/>
        </p:nvSpPr>
        <p:spPr>
          <a:xfrm>
            <a:off x="4559300" y="40640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Kesehatan</a:t>
            </a:r>
          </a:p>
        </p:txBody>
      </p:sp>
      <p:sp>
        <p:nvSpPr>
          <p:cNvPr id="128" name="C2R4Ind"/>
          <p:cNvSpPr txBox="1"/>
          <p:nvPr/>
        </p:nvSpPr>
        <p:spPr>
          <a:xfrm>
            <a:off x="5854700" y="40640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AHH Laki-laki, AHH Perempuan</a:t>
            </a:r>
          </a:p>
        </p:txBody>
      </p:sp>
      <p:sp>
        <p:nvSpPr>
          <p:cNvPr id="129" name="C2R5Dim"/>
          <p:cNvSpPr txBox="1"/>
          <p:nvPr/>
        </p:nvSpPr>
        <p:spPr>
          <a:xfrm>
            <a:off x="4559300" y="4546600"/>
            <a:ext cx="1397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Kesetaraan</a:t>
            </a:r>
          </a:p>
        </p:txBody>
      </p:sp>
      <p:sp>
        <p:nvSpPr>
          <p:cNvPr id="130" name="C2R5Ind"/>
          <p:cNvSpPr txBox="1"/>
          <p:nvPr/>
        </p:nvSpPr>
        <p:spPr>
          <a:xfrm>
            <a:off x="5854700" y="4546600"/>
            <a:ext cx="19304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IPG, Gini Ratio</a:t>
            </a:r>
          </a:p>
        </p:txBody>
      </p:sp>
      <p:sp>
        <p:nvSpPr>
          <p:cNvPr id="131" name="HPREPROCESSINGBg"/>
          <p:cNvSpPr/>
          <p:nvPr/>
        </p:nvSpPr>
        <p:spPr>
          <a:xfrm>
            <a:off x="8153400" y="1143000"/>
            <a:ext cx="3683000" cy="482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HPREPROCESSINGLbl"/>
          <p:cNvSpPr txBox="1"/>
          <p:nvPr/>
        </p:nvSpPr>
        <p:spPr>
          <a:xfrm>
            <a:off x="8153400" y="1143000"/>
            <a:ext cx="36830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C8A951"/>
                </a:solidFill>
              </a:rPr>
              <a:t>PRA-PEMROSESAN</a:t>
            </a:r>
          </a:p>
        </p:txBody>
      </p:sp>
      <p:sp>
        <p:nvSpPr>
          <p:cNvPr id="133" name="C3BodyBg"/>
          <p:cNvSpPr/>
          <p:nvPr/>
        </p:nvSpPr>
        <p:spPr>
          <a:xfrm>
            <a:off x="8153400" y="1625600"/>
            <a:ext cx="3683000" cy="46609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C3Body"/>
          <p:cNvSpPr txBox="1"/>
          <p:nvPr/>
        </p:nvSpPr>
        <p:spPr>
          <a:xfrm>
            <a:off x="8382000" y="1778000"/>
            <a:ext cx="3225800" cy="438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Pembobotan Demografis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Bobot pangsa populasi diterapkan sebelum standardisasi Z-score.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Kelayakan Sampel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Uji KMO dan Bartlett lolos untuk seluruh 5 tahun (p &lt; 0,001).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62681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Metode: Kerangka STATIS (5 Tahap)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B0Hdr"/>
          <p:cNvSpPr/>
          <p:nvPr/>
        </p:nvSpPr>
        <p:spPr>
          <a:xfrm>
            <a:off x="495300" y="1651000"/>
            <a:ext cx="2057400" cy="5588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0Stage"/>
          <p:cNvSpPr txBox="1"/>
          <p:nvPr/>
        </p:nvSpPr>
        <p:spPr>
          <a:xfrm>
            <a:off x="495300" y="1651000"/>
            <a:ext cx="20574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TAHAP 1</a:t>
            </a:r>
          </a:p>
        </p:txBody>
      </p:sp>
      <p:sp>
        <p:nvSpPr>
          <p:cNvPr id="108" name="B0Body"/>
          <p:cNvSpPr/>
          <p:nvPr/>
        </p:nvSpPr>
        <p:spPr>
          <a:xfrm>
            <a:off x="495300" y="2209800"/>
            <a:ext cx="2057400" cy="2235200"/>
          </a:xfrm>
          <a:prstGeom prst="rect">
            <a:avLst/>
          </a:prstGeom>
          <a:solidFill>
            <a:srgbClr val="0B2545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0Text"/>
          <p:cNvSpPr txBox="1"/>
          <p:nvPr/>
        </p:nvSpPr>
        <p:spPr>
          <a:xfrm>
            <a:off x="596900" y="2286000"/>
            <a:ext cx="1854200" cy="203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FFFFFF"/>
                </a:solidFill>
              </a:rPr>
              <a:t>Standardisasi Terbobot</a:t>
            </a:r>
          </a:p>
          <a:p>
            <a:pPr algn="ctr">
              <a:buNone/>
            </a:pPr>
            <a:endParaRPr lang="id-ID" sz="1100"/>
          </a:p>
          <a:p>
            <a:pPr algn="ctr">
              <a:buNone/>
            </a:pPr>
            <a:r>
              <a:rPr lang="id-ID" sz="1300" dirty="0">
                <a:solidFill>
                  <a:srgbClr val="E8F0F8"/>
                </a:solidFill>
              </a:rPr>
              <a:t>Z-score dengan bobot demografis (pangsa populasi)</a:t>
            </a:r>
          </a:p>
        </p:txBody>
      </p:sp>
      <p:sp>
        <p:nvSpPr>
          <p:cNvPr id="110" name="Arrow0"/>
          <p:cNvSpPr/>
          <p:nvPr/>
        </p:nvSpPr>
        <p:spPr>
          <a:xfrm>
            <a:off x="2552700" y="2959100"/>
            <a:ext cx="228600" cy="2286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1Hdr"/>
          <p:cNvSpPr/>
          <p:nvPr/>
        </p:nvSpPr>
        <p:spPr>
          <a:xfrm>
            <a:off x="2781300" y="1651000"/>
            <a:ext cx="2057400" cy="558800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1Stage"/>
          <p:cNvSpPr txBox="1"/>
          <p:nvPr/>
        </p:nvSpPr>
        <p:spPr>
          <a:xfrm>
            <a:off x="2781300" y="1651000"/>
            <a:ext cx="20574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TAHAP 2</a:t>
            </a:r>
          </a:p>
        </p:txBody>
      </p:sp>
      <p:sp>
        <p:nvSpPr>
          <p:cNvPr id="113" name="B1Body"/>
          <p:cNvSpPr/>
          <p:nvPr/>
        </p:nvSpPr>
        <p:spPr>
          <a:xfrm>
            <a:off x="2781300" y="2209800"/>
            <a:ext cx="2057400" cy="2235200"/>
          </a:xfrm>
          <a:prstGeom prst="rect">
            <a:avLst/>
          </a:prstGeom>
          <a:solidFill>
            <a:srgbClr val="13315C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B1Text"/>
          <p:cNvSpPr txBox="1"/>
          <p:nvPr/>
        </p:nvSpPr>
        <p:spPr>
          <a:xfrm>
            <a:off x="2882900" y="2286000"/>
            <a:ext cx="1854200" cy="203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FFFFFF"/>
                </a:solidFill>
              </a:rPr>
              <a:t>Inter-Struktur (RV)</a:t>
            </a:r>
          </a:p>
          <a:p>
            <a:pPr algn="ctr">
              <a:buNone/>
            </a:pPr>
            <a:endParaRPr lang="id-ID" sz="1100"/>
          </a:p>
          <a:p>
            <a:pPr algn="ctr">
              <a:buNone/>
            </a:pPr>
            <a:r>
              <a:rPr lang="id-ID" sz="1300" dirty="0">
                <a:solidFill>
                  <a:srgbClr val="E8F0F8"/>
                </a:solidFill>
              </a:rPr>
              <a:t>Matriks koefisien RV 5×5 — kemiripan antar konfigurasi tahunan</a:t>
            </a:r>
          </a:p>
        </p:txBody>
      </p:sp>
      <p:sp>
        <p:nvSpPr>
          <p:cNvPr id="115" name="Arrow1"/>
          <p:cNvSpPr/>
          <p:nvPr/>
        </p:nvSpPr>
        <p:spPr>
          <a:xfrm>
            <a:off x="4838700" y="2959100"/>
            <a:ext cx="228600" cy="2286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2Hdr"/>
          <p:cNvSpPr/>
          <p:nvPr/>
        </p:nvSpPr>
        <p:spPr>
          <a:xfrm>
            <a:off x="5067300" y="1651000"/>
            <a:ext cx="2057400" cy="558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B2Stage"/>
          <p:cNvSpPr txBox="1"/>
          <p:nvPr/>
        </p:nvSpPr>
        <p:spPr>
          <a:xfrm>
            <a:off x="5067300" y="1651000"/>
            <a:ext cx="20574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TAHAP 3</a:t>
            </a:r>
          </a:p>
        </p:txBody>
      </p:sp>
      <p:sp>
        <p:nvSpPr>
          <p:cNvPr id="118" name="B2Body"/>
          <p:cNvSpPr/>
          <p:nvPr/>
        </p:nvSpPr>
        <p:spPr>
          <a:xfrm>
            <a:off x="5067300" y="2209800"/>
            <a:ext cx="2057400" cy="2235200"/>
          </a:xfrm>
          <a:prstGeom prst="rect">
            <a:avLst/>
          </a:prstGeom>
          <a:solidFill>
            <a:srgbClr val="1F4E79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2Text"/>
          <p:cNvSpPr txBox="1"/>
          <p:nvPr/>
        </p:nvSpPr>
        <p:spPr>
          <a:xfrm>
            <a:off x="5168900" y="2286000"/>
            <a:ext cx="1854200" cy="203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FFFFFF"/>
                </a:solidFill>
              </a:rPr>
              <a:t>Struktur Kompromi Wc</a:t>
            </a:r>
          </a:p>
          <a:p>
            <a:pPr algn="ctr">
              <a:buNone/>
            </a:pPr>
            <a:endParaRPr lang="id-ID" sz="1100"/>
          </a:p>
          <a:p>
            <a:pPr algn="ctr">
              <a:buNone/>
            </a:pPr>
            <a:r>
              <a:rPr lang="id-ID" sz="1300" dirty="0">
                <a:solidFill>
                  <a:srgbClr val="E8F0F8"/>
                </a:solidFill>
              </a:rPr>
              <a:t>Pembobotan spektral optimal (Lavit, 1994) — satu ruang referensi stabil</a:t>
            </a:r>
          </a:p>
        </p:txBody>
      </p:sp>
      <p:sp>
        <p:nvSpPr>
          <p:cNvPr id="120" name="Arrow2"/>
          <p:cNvSpPr/>
          <p:nvPr/>
        </p:nvSpPr>
        <p:spPr>
          <a:xfrm>
            <a:off x="7124700" y="2959100"/>
            <a:ext cx="228600" cy="2286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B3Hdr"/>
          <p:cNvSpPr/>
          <p:nvPr/>
        </p:nvSpPr>
        <p:spPr>
          <a:xfrm>
            <a:off x="7353300" y="1651000"/>
            <a:ext cx="2057400" cy="558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B3Stage"/>
          <p:cNvSpPr txBox="1"/>
          <p:nvPr/>
        </p:nvSpPr>
        <p:spPr>
          <a:xfrm>
            <a:off x="7353300" y="1651000"/>
            <a:ext cx="20574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003366"/>
                </a:solidFill>
              </a:rPr>
              <a:t>TAHAP 4</a:t>
            </a:r>
          </a:p>
        </p:txBody>
      </p:sp>
      <p:sp>
        <p:nvSpPr>
          <p:cNvPr id="123" name="B3Body"/>
          <p:cNvSpPr/>
          <p:nvPr/>
        </p:nvSpPr>
        <p:spPr>
          <a:xfrm>
            <a:off x="7353300" y="2209800"/>
            <a:ext cx="2057400" cy="2235200"/>
          </a:xfrm>
          <a:prstGeom prst="rect">
            <a:avLst/>
          </a:prstGeom>
          <a:solidFill>
            <a:srgbClr val="C8A951"/>
          </a:solidFill>
          <a:ln w="9525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B3Text"/>
          <p:cNvSpPr txBox="1"/>
          <p:nvPr/>
        </p:nvSpPr>
        <p:spPr>
          <a:xfrm>
            <a:off x="7454900" y="2286000"/>
            <a:ext cx="1854200" cy="203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003366"/>
                </a:solidFill>
              </a:rPr>
              <a:t>Uji Permutasi</a:t>
            </a:r>
          </a:p>
          <a:p>
            <a:pPr algn="ctr">
              <a:buNone/>
            </a:pPr>
            <a:endParaRPr lang="id-ID" sz="1100" dirty="0"/>
          </a:p>
          <a:p>
            <a:pPr algn="ctr">
              <a:buNone/>
            </a:pPr>
            <a:r>
              <a:rPr lang="id-ID" sz="1300" dirty="0">
                <a:solidFill>
                  <a:srgbClr val="0B2545"/>
                </a:solidFill>
              </a:rPr>
              <a:t>Monte Carlo B = 1.000 — memvalidasi struktur bukan acak</a:t>
            </a:r>
          </a:p>
        </p:txBody>
      </p:sp>
      <p:sp>
        <p:nvSpPr>
          <p:cNvPr id="125" name="Arrow3"/>
          <p:cNvSpPr/>
          <p:nvPr/>
        </p:nvSpPr>
        <p:spPr>
          <a:xfrm>
            <a:off x="9410700" y="2959100"/>
            <a:ext cx="228600" cy="2286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B4Hdr"/>
          <p:cNvSpPr/>
          <p:nvPr/>
        </p:nvSpPr>
        <p:spPr>
          <a:xfrm>
            <a:off x="9639300" y="1651000"/>
            <a:ext cx="2057400" cy="55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B4Stage"/>
          <p:cNvSpPr txBox="1"/>
          <p:nvPr/>
        </p:nvSpPr>
        <p:spPr>
          <a:xfrm>
            <a:off x="9639300" y="1651000"/>
            <a:ext cx="20574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TAHAP 5</a:t>
            </a:r>
          </a:p>
        </p:txBody>
      </p:sp>
      <p:sp>
        <p:nvSpPr>
          <p:cNvPr id="128" name="B4Body"/>
          <p:cNvSpPr/>
          <p:nvPr/>
        </p:nvSpPr>
        <p:spPr>
          <a:xfrm>
            <a:off x="9639300" y="2203450"/>
            <a:ext cx="2057400" cy="2235200"/>
          </a:xfrm>
          <a:prstGeom prst="rect">
            <a:avLst/>
          </a:prstGeom>
          <a:solidFill>
            <a:srgbClr val="003366"/>
          </a:solidFill>
          <a:ln w="9525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29" name="B4Text"/>
          <p:cNvSpPr txBox="1"/>
          <p:nvPr/>
        </p:nvSpPr>
        <p:spPr>
          <a:xfrm>
            <a:off x="9740900" y="2311400"/>
            <a:ext cx="1854200" cy="203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500" b="1" dirty="0">
                <a:solidFill>
                  <a:srgbClr val="FFFFFF"/>
                </a:solidFill>
              </a:rPr>
              <a:t>Dynamic Biplot + K-Means</a:t>
            </a:r>
          </a:p>
          <a:p>
            <a:pPr algn="ctr">
              <a:buNone/>
            </a:pPr>
            <a:endParaRPr lang="id-ID" sz="1100" dirty="0"/>
          </a:p>
          <a:p>
            <a:pPr algn="ctr">
              <a:buNone/>
            </a:pPr>
            <a:r>
              <a:rPr lang="id-ID" sz="1300" dirty="0">
                <a:solidFill>
                  <a:srgbClr val="E8F0F8"/>
                </a:solidFill>
              </a:rPr>
              <a:t>Visualisasi trajektori + pengelompokan k = 3</a:t>
            </a:r>
          </a:p>
        </p:txBody>
      </p:sp>
      <p:sp>
        <p:nvSpPr>
          <p:cNvPr id="130" name="NoteBg"/>
          <p:cNvSpPr/>
          <p:nvPr/>
        </p:nvSpPr>
        <p:spPr>
          <a:xfrm>
            <a:off x="762000" y="4826000"/>
            <a:ext cx="10668000" cy="1270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NoteEdge"/>
          <p:cNvSpPr/>
          <p:nvPr/>
        </p:nvSpPr>
        <p:spPr>
          <a:xfrm>
            <a:off x="762000" y="4826000"/>
            <a:ext cx="63500" cy="1270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Note"/>
          <p:cNvSpPr txBox="1"/>
          <p:nvPr/>
        </p:nvSpPr>
        <p:spPr>
          <a:xfrm>
            <a:off x="1143000" y="5016500"/>
            <a:ext cx="10160000" cy="952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700" i="1" dirty="0">
                <a:solidFill>
                  <a:srgbClr val="003366"/>
                </a:solidFill>
              </a:rPr>
              <a:t>Seluruh tahun diproyeksikan ke satu ruang kompromi bersama — membuat perbandingan lintas waktu valid dan pola struktural terlihat jelas.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06 / 15</a:t>
            </a:r>
          </a:p>
        </p:txBody>
      </p:sp>
      <p:pic>
        <p:nvPicPr>
          <p:cNvPr id="133" name="Graphic 133" descr="Scale icon for weighted standardiz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082800"/>
            <a:ext cx="609600" cy="609600"/>
          </a:xfrm>
          <a:prstGeom prst="rect">
            <a:avLst/>
          </a:prstGeom>
        </p:spPr>
      </p:pic>
      <p:pic>
        <p:nvPicPr>
          <p:cNvPr id="134" name="Graphic 134" descr="Matrix icon for RV inter-struct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0" y="2082800"/>
            <a:ext cx="609600" cy="609600"/>
          </a:xfrm>
          <a:prstGeom prst="rect">
            <a:avLst/>
          </a:prstGeom>
        </p:spPr>
      </p:pic>
      <p:pic>
        <p:nvPicPr>
          <p:cNvPr id="135" name="Graphic 135" descr="Convergence icon for compromi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2082800"/>
            <a:ext cx="609600" cy="609600"/>
          </a:xfrm>
          <a:prstGeom prst="rect">
            <a:avLst/>
          </a:prstGeom>
        </p:spPr>
      </p:pic>
      <p:pic>
        <p:nvPicPr>
          <p:cNvPr id="136" name="Graphic 136" descr="Dice icon for permutation te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7200" y="2082800"/>
            <a:ext cx="609600" cy="609600"/>
          </a:xfrm>
          <a:prstGeom prst="rect">
            <a:avLst/>
          </a:prstGeom>
        </p:spPr>
      </p:pic>
      <p:pic>
        <p:nvPicPr>
          <p:cNvPr id="137" name="Graphic 137" descr="Graph icon for biplot + k-mea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2095" y="20447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5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Hasil: Stabilitas Inter-Struktur (RV)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Sub"/>
          <p:cNvSpPr txBox="1"/>
          <p:nvPr/>
        </p:nvSpPr>
        <p:spPr>
          <a:xfrm>
            <a:off x="731520" y="1016000"/>
            <a:ext cx="1090168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Hierarki Antar-Wilayah Tetap Stabil Sepanjang Pandemi</a:t>
            </a:r>
          </a:p>
        </p:txBody>
      </p:sp>
      <p:sp>
        <p:nvSpPr>
          <p:cNvPr id="107" name="TblHdrRow"/>
          <p:cNvSpPr/>
          <p:nvPr/>
        </p:nvSpPr>
        <p:spPr>
          <a:xfrm>
            <a:off x="1016000" y="1651000"/>
            <a:ext cx="72390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HY0"/>
          <p:cNvSpPr txBox="1"/>
          <p:nvPr/>
        </p:nvSpPr>
        <p:spPr>
          <a:xfrm>
            <a:off x="22225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109" name="HY1"/>
          <p:cNvSpPr txBox="1"/>
          <p:nvPr/>
        </p:nvSpPr>
        <p:spPr>
          <a:xfrm>
            <a:off x="34290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110" name="HY2"/>
          <p:cNvSpPr txBox="1"/>
          <p:nvPr/>
        </p:nvSpPr>
        <p:spPr>
          <a:xfrm>
            <a:off x="46355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11" name="HY3"/>
          <p:cNvSpPr txBox="1"/>
          <p:nvPr/>
        </p:nvSpPr>
        <p:spPr>
          <a:xfrm>
            <a:off x="58420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12" name="HY4"/>
          <p:cNvSpPr txBox="1"/>
          <p:nvPr/>
        </p:nvSpPr>
        <p:spPr>
          <a:xfrm>
            <a:off x="70485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13" name="HCorner"/>
          <p:cNvSpPr txBox="1"/>
          <p:nvPr/>
        </p:nvSpPr>
        <p:spPr>
          <a:xfrm>
            <a:off x="1016000" y="1651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Tahun</a:t>
            </a:r>
          </a:p>
        </p:txBody>
      </p:sp>
      <p:sp>
        <p:nvSpPr>
          <p:cNvPr id="114" name="RL0Bg"/>
          <p:cNvSpPr/>
          <p:nvPr/>
        </p:nvSpPr>
        <p:spPr>
          <a:xfrm>
            <a:off x="1016000" y="2235200"/>
            <a:ext cx="12065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RL0"/>
          <p:cNvSpPr txBox="1"/>
          <p:nvPr/>
        </p:nvSpPr>
        <p:spPr>
          <a:xfrm>
            <a:off x="10160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116" name="D00Bg"/>
          <p:cNvSpPr/>
          <p:nvPr/>
        </p:nvSpPr>
        <p:spPr>
          <a:xfrm>
            <a:off x="2222500" y="2235200"/>
            <a:ext cx="1206500" cy="5842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D00"/>
          <p:cNvSpPr txBox="1"/>
          <p:nvPr/>
        </p:nvSpPr>
        <p:spPr>
          <a:xfrm>
            <a:off x="22225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18" name="D01Bg"/>
          <p:cNvSpPr/>
          <p:nvPr/>
        </p:nvSpPr>
        <p:spPr>
          <a:xfrm>
            <a:off x="3429000" y="2235200"/>
            <a:ext cx="1206500" cy="584200"/>
          </a:xfrm>
          <a:prstGeom prst="rect">
            <a:avLst/>
          </a:prstGeom>
          <a:solidFill>
            <a:srgbClr val="9DBEA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D01"/>
          <p:cNvSpPr txBox="1"/>
          <p:nvPr/>
        </p:nvSpPr>
        <p:spPr>
          <a:xfrm>
            <a:off x="34290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0.9555</a:t>
            </a:r>
          </a:p>
        </p:txBody>
      </p:sp>
      <p:sp>
        <p:nvSpPr>
          <p:cNvPr id="120" name="D02Bg"/>
          <p:cNvSpPr/>
          <p:nvPr/>
        </p:nvSpPr>
        <p:spPr>
          <a:xfrm>
            <a:off x="4635500" y="2235200"/>
            <a:ext cx="1206500" cy="584200"/>
          </a:xfrm>
          <a:prstGeom prst="rect">
            <a:avLst/>
          </a:prstGeom>
          <a:solidFill>
            <a:srgbClr val="C2D9C4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D02"/>
          <p:cNvSpPr txBox="1"/>
          <p:nvPr/>
        </p:nvSpPr>
        <p:spPr>
          <a:xfrm>
            <a:off x="46355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0.9429</a:t>
            </a:r>
          </a:p>
        </p:txBody>
      </p:sp>
      <p:sp>
        <p:nvSpPr>
          <p:cNvPr id="122" name="D03Bg"/>
          <p:cNvSpPr/>
          <p:nvPr/>
        </p:nvSpPr>
        <p:spPr>
          <a:xfrm>
            <a:off x="5842000" y="2235200"/>
            <a:ext cx="1206500" cy="584200"/>
          </a:xfrm>
          <a:prstGeom prst="rect">
            <a:avLst/>
          </a:prstGeom>
          <a:solidFill>
            <a:srgbClr val="A4C3A6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D03"/>
          <p:cNvSpPr txBox="1"/>
          <p:nvPr/>
        </p:nvSpPr>
        <p:spPr>
          <a:xfrm>
            <a:off x="58420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0.9533</a:t>
            </a:r>
          </a:p>
        </p:txBody>
      </p:sp>
      <p:sp>
        <p:nvSpPr>
          <p:cNvPr id="124" name="D04Bg"/>
          <p:cNvSpPr/>
          <p:nvPr/>
        </p:nvSpPr>
        <p:spPr>
          <a:xfrm>
            <a:off x="7048500" y="2235200"/>
            <a:ext cx="1206500" cy="584200"/>
          </a:xfrm>
          <a:prstGeom prst="rect">
            <a:avLst/>
          </a:prstGeom>
          <a:solidFill>
            <a:srgbClr val="A0C0A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D04"/>
          <p:cNvSpPr txBox="1"/>
          <p:nvPr/>
        </p:nvSpPr>
        <p:spPr>
          <a:xfrm>
            <a:off x="7048500" y="22352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0.9545</a:t>
            </a:r>
          </a:p>
        </p:txBody>
      </p:sp>
      <p:sp>
        <p:nvSpPr>
          <p:cNvPr id="126" name="RL1Bg"/>
          <p:cNvSpPr/>
          <p:nvPr/>
        </p:nvSpPr>
        <p:spPr>
          <a:xfrm>
            <a:off x="1016000" y="2819400"/>
            <a:ext cx="12065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RL1"/>
          <p:cNvSpPr txBox="1"/>
          <p:nvPr/>
        </p:nvSpPr>
        <p:spPr>
          <a:xfrm>
            <a:off x="10160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128" name="D10Bg"/>
          <p:cNvSpPr/>
          <p:nvPr/>
        </p:nvSpPr>
        <p:spPr>
          <a:xfrm>
            <a:off x="2222500" y="2819400"/>
            <a:ext cx="1206500" cy="584200"/>
          </a:xfrm>
          <a:prstGeom prst="rect">
            <a:avLst/>
          </a:prstGeom>
          <a:solidFill>
            <a:srgbClr val="9DBEA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D10"/>
          <p:cNvSpPr txBox="1"/>
          <p:nvPr/>
        </p:nvSpPr>
        <p:spPr>
          <a:xfrm>
            <a:off x="22225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0.9555</a:t>
            </a:r>
          </a:p>
        </p:txBody>
      </p:sp>
      <p:sp>
        <p:nvSpPr>
          <p:cNvPr id="130" name="D11Bg"/>
          <p:cNvSpPr/>
          <p:nvPr/>
        </p:nvSpPr>
        <p:spPr>
          <a:xfrm>
            <a:off x="3429000" y="2819400"/>
            <a:ext cx="1206500" cy="5842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D11"/>
          <p:cNvSpPr txBox="1"/>
          <p:nvPr/>
        </p:nvSpPr>
        <p:spPr>
          <a:xfrm>
            <a:off x="34290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32" name="D12Bg"/>
          <p:cNvSpPr/>
          <p:nvPr/>
        </p:nvSpPr>
        <p:spPr>
          <a:xfrm>
            <a:off x="4635500" y="2819400"/>
            <a:ext cx="1206500" cy="584200"/>
          </a:xfrm>
          <a:prstGeom prst="rect">
            <a:avLst/>
          </a:prstGeom>
          <a:solidFill>
            <a:srgbClr val="A3C3A6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D12"/>
          <p:cNvSpPr txBox="1"/>
          <p:nvPr/>
        </p:nvSpPr>
        <p:spPr>
          <a:xfrm>
            <a:off x="46355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0.9534</a:t>
            </a:r>
          </a:p>
        </p:txBody>
      </p:sp>
      <p:sp>
        <p:nvSpPr>
          <p:cNvPr id="134" name="D13Bg"/>
          <p:cNvSpPr/>
          <p:nvPr/>
        </p:nvSpPr>
        <p:spPr>
          <a:xfrm>
            <a:off x="5842000" y="2819400"/>
            <a:ext cx="1206500" cy="584200"/>
          </a:xfrm>
          <a:prstGeom prst="rect">
            <a:avLst/>
          </a:prstGeom>
          <a:solidFill>
            <a:srgbClr val="B1CDB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D13"/>
          <p:cNvSpPr txBox="1"/>
          <p:nvPr/>
        </p:nvSpPr>
        <p:spPr>
          <a:xfrm>
            <a:off x="58420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0.9487</a:t>
            </a:r>
          </a:p>
        </p:txBody>
      </p:sp>
      <p:sp>
        <p:nvSpPr>
          <p:cNvPr id="136" name="D14Bg"/>
          <p:cNvSpPr/>
          <p:nvPr/>
        </p:nvSpPr>
        <p:spPr>
          <a:xfrm>
            <a:off x="7048500" y="2819400"/>
            <a:ext cx="1206500" cy="584200"/>
          </a:xfrm>
          <a:prstGeom prst="rect">
            <a:avLst/>
          </a:prstGeom>
          <a:solidFill>
            <a:srgbClr val="CCE0CD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D14"/>
          <p:cNvSpPr txBox="1"/>
          <p:nvPr/>
        </p:nvSpPr>
        <p:spPr>
          <a:xfrm>
            <a:off x="7048500" y="28194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0.9396</a:t>
            </a:r>
          </a:p>
        </p:txBody>
      </p:sp>
      <p:sp>
        <p:nvSpPr>
          <p:cNvPr id="138" name="RL2Bg"/>
          <p:cNvSpPr/>
          <p:nvPr/>
        </p:nvSpPr>
        <p:spPr>
          <a:xfrm>
            <a:off x="1016000" y="3403600"/>
            <a:ext cx="12065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9" name="RL2"/>
          <p:cNvSpPr txBox="1"/>
          <p:nvPr/>
        </p:nvSpPr>
        <p:spPr>
          <a:xfrm>
            <a:off x="10160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40" name="D20Bg"/>
          <p:cNvSpPr/>
          <p:nvPr/>
        </p:nvSpPr>
        <p:spPr>
          <a:xfrm>
            <a:off x="2222500" y="3403600"/>
            <a:ext cx="1206500" cy="584200"/>
          </a:xfrm>
          <a:prstGeom prst="rect">
            <a:avLst/>
          </a:prstGeom>
          <a:solidFill>
            <a:srgbClr val="C2D9C4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D20"/>
          <p:cNvSpPr txBox="1"/>
          <p:nvPr/>
        </p:nvSpPr>
        <p:spPr>
          <a:xfrm>
            <a:off x="22225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0.9429</a:t>
            </a:r>
          </a:p>
        </p:txBody>
      </p:sp>
      <p:sp>
        <p:nvSpPr>
          <p:cNvPr id="142" name="D21Bg"/>
          <p:cNvSpPr/>
          <p:nvPr/>
        </p:nvSpPr>
        <p:spPr>
          <a:xfrm>
            <a:off x="3429000" y="3403600"/>
            <a:ext cx="1206500" cy="584200"/>
          </a:xfrm>
          <a:prstGeom prst="rect">
            <a:avLst/>
          </a:prstGeom>
          <a:solidFill>
            <a:srgbClr val="A3C3A6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3" name="D21"/>
          <p:cNvSpPr txBox="1"/>
          <p:nvPr/>
        </p:nvSpPr>
        <p:spPr>
          <a:xfrm>
            <a:off x="34290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0.9534</a:t>
            </a:r>
          </a:p>
        </p:txBody>
      </p:sp>
      <p:sp>
        <p:nvSpPr>
          <p:cNvPr id="144" name="D22Bg"/>
          <p:cNvSpPr/>
          <p:nvPr/>
        </p:nvSpPr>
        <p:spPr>
          <a:xfrm>
            <a:off x="4635500" y="3403600"/>
            <a:ext cx="1206500" cy="5842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5" name="D22"/>
          <p:cNvSpPr txBox="1"/>
          <p:nvPr/>
        </p:nvSpPr>
        <p:spPr>
          <a:xfrm>
            <a:off x="46355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46" name="D23Bg"/>
          <p:cNvSpPr/>
          <p:nvPr/>
        </p:nvSpPr>
        <p:spPr>
          <a:xfrm>
            <a:off x="5842000" y="3403600"/>
            <a:ext cx="1206500" cy="584200"/>
          </a:xfrm>
          <a:prstGeom prst="rect">
            <a:avLst/>
          </a:prstGeom>
          <a:solidFill>
            <a:srgbClr val="8EB391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7" name="D23"/>
          <p:cNvSpPr txBox="1"/>
          <p:nvPr/>
        </p:nvSpPr>
        <p:spPr>
          <a:xfrm>
            <a:off x="58420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0.9608</a:t>
            </a:r>
          </a:p>
        </p:txBody>
      </p:sp>
      <p:sp>
        <p:nvSpPr>
          <p:cNvPr id="148" name="D24Bg"/>
          <p:cNvSpPr/>
          <p:nvPr/>
        </p:nvSpPr>
        <p:spPr>
          <a:xfrm>
            <a:off x="7048500" y="3403600"/>
            <a:ext cx="1206500" cy="584200"/>
          </a:xfrm>
          <a:prstGeom prst="rect">
            <a:avLst/>
          </a:prstGeom>
          <a:solidFill>
            <a:srgbClr val="AECB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D24"/>
          <p:cNvSpPr txBox="1"/>
          <p:nvPr/>
        </p:nvSpPr>
        <p:spPr>
          <a:xfrm>
            <a:off x="7048500" y="34036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0.9497</a:t>
            </a:r>
          </a:p>
        </p:txBody>
      </p:sp>
      <p:sp>
        <p:nvSpPr>
          <p:cNvPr id="150" name="RL3Bg"/>
          <p:cNvSpPr/>
          <p:nvPr/>
        </p:nvSpPr>
        <p:spPr>
          <a:xfrm>
            <a:off x="1016000" y="3987800"/>
            <a:ext cx="12065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1" name="RL3"/>
          <p:cNvSpPr txBox="1"/>
          <p:nvPr/>
        </p:nvSpPr>
        <p:spPr>
          <a:xfrm>
            <a:off x="10160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52" name="D30Bg"/>
          <p:cNvSpPr/>
          <p:nvPr/>
        </p:nvSpPr>
        <p:spPr>
          <a:xfrm>
            <a:off x="2222500" y="3987800"/>
            <a:ext cx="1206500" cy="584200"/>
          </a:xfrm>
          <a:prstGeom prst="rect">
            <a:avLst/>
          </a:prstGeom>
          <a:solidFill>
            <a:srgbClr val="A4C3A6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" name="D30"/>
          <p:cNvSpPr txBox="1"/>
          <p:nvPr/>
        </p:nvSpPr>
        <p:spPr>
          <a:xfrm>
            <a:off x="22225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0.9533</a:t>
            </a:r>
          </a:p>
        </p:txBody>
      </p:sp>
      <p:sp>
        <p:nvSpPr>
          <p:cNvPr id="154" name="D31Bg"/>
          <p:cNvSpPr/>
          <p:nvPr/>
        </p:nvSpPr>
        <p:spPr>
          <a:xfrm>
            <a:off x="3429000" y="3987800"/>
            <a:ext cx="1206500" cy="584200"/>
          </a:xfrm>
          <a:prstGeom prst="rect">
            <a:avLst/>
          </a:prstGeom>
          <a:solidFill>
            <a:srgbClr val="B1CDB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" name="D31"/>
          <p:cNvSpPr txBox="1"/>
          <p:nvPr/>
        </p:nvSpPr>
        <p:spPr>
          <a:xfrm>
            <a:off x="34290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0.9487</a:t>
            </a:r>
          </a:p>
        </p:txBody>
      </p:sp>
      <p:sp>
        <p:nvSpPr>
          <p:cNvPr id="156" name="D32Bg"/>
          <p:cNvSpPr/>
          <p:nvPr/>
        </p:nvSpPr>
        <p:spPr>
          <a:xfrm>
            <a:off x="4635500" y="3987800"/>
            <a:ext cx="1206500" cy="584200"/>
          </a:xfrm>
          <a:prstGeom prst="rect">
            <a:avLst/>
          </a:prstGeom>
          <a:solidFill>
            <a:srgbClr val="8EB391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D32"/>
          <p:cNvSpPr txBox="1"/>
          <p:nvPr/>
        </p:nvSpPr>
        <p:spPr>
          <a:xfrm>
            <a:off x="46355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0.9608</a:t>
            </a:r>
          </a:p>
        </p:txBody>
      </p:sp>
      <p:sp>
        <p:nvSpPr>
          <p:cNvPr id="158" name="D33Bg"/>
          <p:cNvSpPr/>
          <p:nvPr/>
        </p:nvSpPr>
        <p:spPr>
          <a:xfrm>
            <a:off x="5842000" y="3987800"/>
            <a:ext cx="1206500" cy="5842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D33"/>
          <p:cNvSpPr txBox="1"/>
          <p:nvPr/>
        </p:nvSpPr>
        <p:spPr>
          <a:xfrm>
            <a:off x="58420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60" name="D34Bg"/>
          <p:cNvSpPr/>
          <p:nvPr/>
        </p:nvSpPr>
        <p:spPr>
          <a:xfrm>
            <a:off x="7048500" y="3987800"/>
            <a:ext cx="1206500" cy="584200"/>
          </a:xfrm>
          <a:prstGeom prst="rect">
            <a:avLst/>
          </a:prstGeom>
          <a:solidFill>
            <a:srgbClr val="4E835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1" name="D34"/>
          <p:cNvSpPr txBox="1"/>
          <p:nvPr/>
        </p:nvSpPr>
        <p:spPr>
          <a:xfrm>
            <a:off x="7048500" y="39878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FFFFFF"/>
                </a:solidFill>
              </a:rPr>
              <a:t>0.9827</a:t>
            </a:r>
          </a:p>
        </p:txBody>
      </p:sp>
      <p:sp>
        <p:nvSpPr>
          <p:cNvPr id="162" name="RL4Bg"/>
          <p:cNvSpPr/>
          <p:nvPr/>
        </p:nvSpPr>
        <p:spPr>
          <a:xfrm>
            <a:off x="1016000" y="4572000"/>
            <a:ext cx="1206500" cy="584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3" name="RL4"/>
          <p:cNvSpPr txBox="1"/>
          <p:nvPr/>
        </p:nvSpPr>
        <p:spPr>
          <a:xfrm>
            <a:off x="10160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64" name="D40Bg"/>
          <p:cNvSpPr/>
          <p:nvPr/>
        </p:nvSpPr>
        <p:spPr>
          <a:xfrm>
            <a:off x="2222500" y="4572000"/>
            <a:ext cx="1206500" cy="584200"/>
          </a:xfrm>
          <a:prstGeom prst="rect">
            <a:avLst/>
          </a:prstGeom>
          <a:solidFill>
            <a:srgbClr val="A0C0A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5" name="D40"/>
          <p:cNvSpPr txBox="1"/>
          <p:nvPr/>
        </p:nvSpPr>
        <p:spPr>
          <a:xfrm>
            <a:off x="22225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0.9545</a:t>
            </a:r>
          </a:p>
        </p:txBody>
      </p:sp>
      <p:sp>
        <p:nvSpPr>
          <p:cNvPr id="166" name="D41Bg"/>
          <p:cNvSpPr/>
          <p:nvPr/>
        </p:nvSpPr>
        <p:spPr>
          <a:xfrm>
            <a:off x="3429000" y="4572000"/>
            <a:ext cx="1206500" cy="584200"/>
          </a:xfrm>
          <a:prstGeom prst="rect">
            <a:avLst/>
          </a:prstGeom>
          <a:solidFill>
            <a:srgbClr val="CCE0CD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7" name="D41"/>
          <p:cNvSpPr txBox="1"/>
          <p:nvPr/>
        </p:nvSpPr>
        <p:spPr>
          <a:xfrm>
            <a:off x="34290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0.9396</a:t>
            </a:r>
          </a:p>
        </p:txBody>
      </p:sp>
      <p:sp>
        <p:nvSpPr>
          <p:cNvPr id="168" name="D42Bg"/>
          <p:cNvSpPr/>
          <p:nvPr/>
        </p:nvSpPr>
        <p:spPr>
          <a:xfrm>
            <a:off x="4635500" y="4572000"/>
            <a:ext cx="1206500" cy="584200"/>
          </a:xfrm>
          <a:prstGeom prst="rect">
            <a:avLst/>
          </a:prstGeom>
          <a:solidFill>
            <a:srgbClr val="AECBB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9" name="D42"/>
          <p:cNvSpPr txBox="1"/>
          <p:nvPr/>
        </p:nvSpPr>
        <p:spPr>
          <a:xfrm>
            <a:off x="46355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1A1A1A"/>
                </a:solidFill>
              </a:rPr>
              <a:t>0.9497</a:t>
            </a:r>
          </a:p>
        </p:txBody>
      </p:sp>
      <p:sp>
        <p:nvSpPr>
          <p:cNvPr id="170" name="D43Bg"/>
          <p:cNvSpPr/>
          <p:nvPr/>
        </p:nvSpPr>
        <p:spPr>
          <a:xfrm>
            <a:off x="5842000" y="4572000"/>
            <a:ext cx="1206500" cy="584200"/>
          </a:xfrm>
          <a:prstGeom prst="rect">
            <a:avLst/>
          </a:prstGeom>
          <a:solidFill>
            <a:srgbClr val="4E8352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1" name="D43"/>
          <p:cNvSpPr txBox="1"/>
          <p:nvPr/>
        </p:nvSpPr>
        <p:spPr>
          <a:xfrm>
            <a:off x="58420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0" dirty="0">
                <a:solidFill>
                  <a:srgbClr val="FFFFFF"/>
                </a:solidFill>
              </a:rPr>
              <a:t>0.9827</a:t>
            </a:r>
          </a:p>
        </p:txBody>
      </p:sp>
      <p:sp>
        <p:nvSpPr>
          <p:cNvPr id="172" name="D44Bg"/>
          <p:cNvSpPr/>
          <p:nvPr/>
        </p:nvSpPr>
        <p:spPr>
          <a:xfrm>
            <a:off x="7048500" y="4572000"/>
            <a:ext cx="1206500" cy="5842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3" name="D44"/>
          <p:cNvSpPr txBox="1"/>
          <p:nvPr/>
        </p:nvSpPr>
        <p:spPr>
          <a:xfrm>
            <a:off x="7048500" y="4572000"/>
            <a:ext cx="12065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74" name="LegLbl"/>
          <p:cNvSpPr txBox="1"/>
          <p:nvPr/>
        </p:nvSpPr>
        <p:spPr>
          <a:xfrm>
            <a:off x="8636000" y="1651000"/>
            <a:ext cx="3098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003366"/>
                </a:solidFill>
              </a:rPr>
              <a:t>Skala Warna</a:t>
            </a:r>
          </a:p>
        </p:txBody>
      </p:sp>
      <p:sp>
        <p:nvSpPr>
          <p:cNvPr id="175" name="Sw0"/>
          <p:cNvSpPr/>
          <p:nvPr/>
        </p:nvSpPr>
        <p:spPr>
          <a:xfrm>
            <a:off x="8636000" y="2006600"/>
            <a:ext cx="355600" cy="355600"/>
          </a:xfrm>
          <a:prstGeom prst="rect">
            <a:avLst/>
          </a:prstGeom>
          <a:solidFill>
            <a:srgbClr val="E8F5E9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6" name="SwL0"/>
          <p:cNvSpPr txBox="1"/>
          <p:nvPr/>
        </p:nvSpPr>
        <p:spPr>
          <a:xfrm>
            <a:off x="8585200" y="23876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0.93</a:t>
            </a:r>
          </a:p>
        </p:txBody>
      </p:sp>
      <p:sp>
        <p:nvSpPr>
          <p:cNvPr id="177" name="Sw1"/>
          <p:cNvSpPr/>
          <p:nvPr/>
        </p:nvSpPr>
        <p:spPr>
          <a:xfrm>
            <a:off x="9017000" y="2006600"/>
            <a:ext cx="355600" cy="355600"/>
          </a:xfrm>
          <a:prstGeom prst="rect">
            <a:avLst/>
          </a:prstGeom>
          <a:solidFill>
            <a:srgbClr val="B4D8B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8" name="SwL1"/>
          <p:cNvSpPr txBox="1"/>
          <p:nvPr/>
        </p:nvSpPr>
        <p:spPr>
          <a:xfrm>
            <a:off x="8966200" y="23876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0.95</a:t>
            </a:r>
          </a:p>
        </p:txBody>
      </p:sp>
      <p:sp>
        <p:nvSpPr>
          <p:cNvPr id="179" name="Sw2"/>
          <p:cNvSpPr/>
          <p:nvPr/>
        </p:nvSpPr>
        <p:spPr>
          <a:xfrm>
            <a:off x="9398000" y="2006600"/>
            <a:ext cx="355600" cy="355600"/>
          </a:xfrm>
          <a:prstGeom prst="rect">
            <a:avLst/>
          </a:prstGeom>
          <a:solidFill>
            <a:srgbClr val="7FBB87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0" name="SwL2"/>
          <p:cNvSpPr txBox="1"/>
          <p:nvPr/>
        </p:nvSpPr>
        <p:spPr>
          <a:xfrm>
            <a:off x="9347200" y="23876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0.96</a:t>
            </a:r>
          </a:p>
        </p:txBody>
      </p:sp>
      <p:sp>
        <p:nvSpPr>
          <p:cNvPr id="181" name="Sw3"/>
          <p:cNvSpPr/>
          <p:nvPr/>
        </p:nvSpPr>
        <p:spPr>
          <a:xfrm>
            <a:off x="9779000" y="2006600"/>
            <a:ext cx="355600" cy="355600"/>
          </a:xfrm>
          <a:prstGeom prst="rect">
            <a:avLst/>
          </a:prstGeom>
          <a:solidFill>
            <a:srgbClr val="4F9856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2" name="SwL3"/>
          <p:cNvSpPr txBox="1"/>
          <p:nvPr/>
        </p:nvSpPr>
        <p:spPr>
          <a:xfrm>
            <a:off x="9728200" y="23876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0.98</a:t>
            </a:r>
          </a:p>
        </p:txBody>
      </p:sp>
      <p:sp>
        <p:nvSpPr>
          <p:cNvPr id="183" name="Sw4"/>
          <p:cNvSpPr/>
          <p:nvPr/>
        </p:nvSpPr>
        <p:spPr>
          <a:xfrm>
            <a:off x="10160000" y="2006600"/>
            <a:ext cx="355600" cy="355600"/>
          </a:xfrm>
          <a:prstGeom prst="rect">
            <a:avLst/>
          </a:prstGeom>
          <a:solidFill>
            <a:srgbClr val="1B5E20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4" name="SwL4"/>
          <p:cNvSpPr txBox="1"/>
          <p:nvPr/>
        </p:nvSpPr>
        <p:spPr>
          <a:xfrm>
            <a:off x="10109200" y="23876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1.00</a:t>
            </a:r>
          </a:p>
        </p:txBody>
      </p:sp>
      <p:sp>
        <p:nvSpPr>
          <p:cNvPr id="185" name="FindBg"/>
          <p:cNvSpPr/>
          <p:nvPr/>
        </p:nvSpPr>
        <p:spPr>
          <a:xfrm>
            <a:off x="8636000" y="3048000"/>
            <a:ext cx="3098800" cy="20955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6" name="FindEdge"/>
          <p:cNvSpPr/>
          <p:nvPr/>
        </p:nvSpPr>
        <p:spPr>
          <a:xfrm>
            <a:off x="8636000" y="3048000"/>
            <a:ext cx="63500" cy="20955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7" name="FindLbl"/>
          <p:cNvSpPr txBox="1"/>
          <p:nvPr/>
        </p:nvSpPr>
        <p:spPr>
          <a:xfrm>
            <a:off x="8864600" y="3200400"/>
            <a:ext cx="27178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003366"/>
                </a:solidFill>
              </a:rPr>
              <a:t>TEMUAN UTAMA</a:t>
            </a:r>
          </a:p>
        </p:txBody>
      </p:sp>
      <p:sp>
        <p:nvSpPr>
          <p:cNvPr id="188" name="FindBody"/>
          <p:cNvSpPr txBox="1"/>
          <p:nvPr/>
        </p:nvSpPr>
        <p:spPr>
          <a:xfrm>
            <a:off x="8864600" y="3581400"/>
            <a:ext cx="2717800" cy="146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Seluruh RV &gt; 0,9543 (p = 0,0010).</a:t>
            </a:r>
          </a:p>
          <a:p>
            <a:pPr algn="l">
              <a:buNone/>
            </a:pPr>
            <a:r>
              <a:rPr lang="id-ID" sz="1300" dirty="0">
                <a:solidFill>
                  <a:srgbClr val="1F4E79"/>
                </a:solidFill>
              </a:rPr>
              <a:t>Nilai indikator berfluktuasi, tetapi hierarki kemiripan antar-wilayah tetap stabil lintas waktu.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234998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Hasil: Struktur Kompromi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Sub"/>
          <p:cNvSpPr txBox="1"/>
          <p:nvPr/>
        </p:nvSpPr>
        <p:spPr>
          <a:xfrm>
            <a:off x="731520" y="1016000"/>
            <a:ext cx="1090168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700" b="1" dirty="0">
                <a:solidFill>
                  <a:srgbClr val="003366"/>
                </a:solidFill>
              </a:rPr>
              <a:t>Dua Sumbu Struktural Menjelaskan 71,88% Total Variansi</a:t>
            </a:r>
          </a:p>
        </p:txBody>
      </p:sp>
      <p:sp>
        <p:nvSpPr>
          <p:cNvPr id="107" name="FigBg"/>
          <p:cNvSpPr/>
          <p:nvPr/>
        </p:nvSpPr>
        <p:spPr>
          <a:xfrm>
            <a:off x="731520" y="1587500"/>
            <a:ext cx="5440680" cy="4635500"/>
          </a:xfrm>
          <a:prstGeom prst="rect">
            <a:avLst/>
          </a:prstGeom>
          <a:solidFill>
            <a:srgbClr val="F5F5F5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D1Bg"/>
          <p:cNvSpPr/>
          <p:nvPr/>
        </p:nvSpPr>
        <p:spPr>
          <a:xfrm>
            <a:off x="6477000" y="1587500"/>
            <a:ext cx="533400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D1"/>
          <p:cNvSpPr txBox="1"/>
          <p:nvPr/>
        </p:nvSpPr>
        <p:spPr>
          <a:xfrm>
            <a:off x="6680200" y="1714500"/>
            <a:ext cx="4927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b="1" dirty="0">
                <a:solidFill>
                  <a:srgbClr val="C8A951"/>
                </a:solidFill>
              </a:rPr>
              <a:t>DIMENSI 1   60,85%   (λ₁ = 6,69)</a:t>
            </a:r>
          </a:p>
          <a:p>
            <a:pPr algn="l">
              <a:buNone/>
            </a:pPr>
            <a:r>
              <a:rPr lang="id-ID" sz="1500" b="1" dirty="0">
                <a:solidFill>
                  <a:srgbClr val="FFFFFF"/>
                </a:solidFill>
              </a:rPr>
              <a:t>Taraf Kemajuan Pembangunan Manusia &amp; Ekonomi</a:t>
            </a:r>
          </a:p>
          <a:p>
            <a:pPr algn="l">
              <a:buNone/>
            </a:pPr>
            <a:r>
              <a:rPr lang="id-ID" sz="1200" dirty="0">
                <a:solidFill>
                  <a:srgbClr val="E8F0F8"/>
                </a:solidFill>
              </a:rPr>
              <a:t>RLS  ·  AHH L/P  ·  GK  ·  IPG  ·  PDRB ADHK   (loading &gt; 0,70)</a:t>
            </a:r>
          </a:p>
        </p:txBody>
      </p:sp>
      <p:sp>
        <p:nvSpPr>
          <p:cNvPr id="111" name="D2Bg"/>
          <p:cNvSpPr/>
          <p:nvPr/>
        </p:nvSpPr>
        <p:spPr>
          <a:xfrm>
            <a:off x="6477000" y="2857500"/>
            <a:ext cx="533400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D2"/>
          <p:cNvSpPr txBox="1"/>
          <p:nvPr/>
        </p:nvSpPr>
        <p:spPr>
          <a:xfrm>
            <a:off x="6680200" y="2984500"/>
            <a:ext cx="4927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b="1" dirty="0">
                <a:solidFill>
                  <a:srgbClr val="C8A951"/>
                </a:solidFill>
              </a:rPr>
              <a:t>DIMENSI 2   11,03%   (λ₂ = 1,21)</a:t>
            </a:r>
          </a:p>
          <a:p>
            <a:pPr algn="l">
              <a:buNone/>
            </a:pPr>
            <a:r>
              <a:rPr lang="id-ID" sz="1500" b="1" dirty="0">
                <a:solidFill>
                  <a:srgbClr val="FFFFFF"/>
                </a:solidFill>
              </a:rPr>
              <a:t>Tekanan Pasar Tenaga Kerja</a:t>
            </a:r>
          </a:p>
          <a:p>
            <a:pPr algn="l">
              <a:buNone/>
            </a:pPr>
            <a:r>
              <a:rPr lang="id-ID" sz="1200" dirty="0">
                <a:solidFill>
                  <a:srgbClr val="E8F0F8"/>
                </a:solidFill>
              </a:rPr>
              <a:t>TPT (loading +0,86)  ·  TPAK (loading −0,49)</a:t>
            </a:r>
          </a:p>
        </p:txBody>
      </p:sp>
      <p:sp>
        <p:nvSpPr>
          <p:cNvPr id="113" name="ExtBg"/>
          <p:cNvSpPr/>
          <p:nvPr/>
        </p:nvSpPr>
        <p:spPr>
          <a:xfrm>
            <a:off x="6477000" y="4127500"/>
            <a:ext cx="5334000" cy="20955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ExtEdge"/>
          <p:cNvSpPr/>
          <p:nvPr/>
        </p:nvSpPr>
        <p:spPr>
          <a:xfrm>
            <a:off x="6477000" y="4127500"/>
            <a:ext cx="63500" cy="20955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ExtLbl"/>
          <p:cNvSpPr txBox="1"/>
          <p:nvPr/>
        </p:nvSpPr>
        <p:spPr>
          <a:xfrm>
            <a:off x="6705600" y="4254500"/>
            <a:ext cx="4953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C8A951"/>
                </a:solidFill>
              </a:rPr>
              <a:t>POSISI EKSTREM &amp; PERGESERAN PC1</a:t>
            </a:r>
          </a:p>
        </p:txBody>
      </p:sp>
      <p:sp>
        <p:nvSpPr>
          <p:cNvPr id="116" name="ExtBody"/>
          <p:cNvSpPr txBox="1"/>
          <p:nvPr/>
        </p:nvSpPr>
        <p:spPr>
          <a:xfrm>
            <a:off x="6705600" y="4572000"/>
            <a:ext cx="4953000" cy="158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buFont typeface="Arial"/>
              <a:buChar char="•"/>
            </a:pPr>
            <a:r>
              <a:rPr lang="id-ID" sz="1300" b="1" dirty="0">
                <a:solidFill>
                  <a:srgbClr val="003366"/>
                </a:solidFill>
              </a:rPr>
              <a:t>Kanan-atas: </a:t>
            </a:r>
            <a:r>
              <a:rPr lang="id-ID" sz="1300" dirty="0">
                <a:solidFill>
                  <a:srgbClr val="1F4E79"/>
                </a:solidFill>
              </a:rPr>
              <a:t>seluruh kota DKI Jakarta — kapasitas paling tinggi.</a:t>
            </a:r>
          </a:p>
          <a:p>
            <a:pPr marL="171450" indent="-171450">
              <a:buFont typeface="Arial"/>
              <a:buChar char="•"/>
            </a:pPr>
            <a:r>
              <a:rPr lang="id-ID" sz="1300" b="1" dirty="0">
                <a:solidFill>
                  <a:srgbClr val="003366"/>
                </a:solidFill>
              </a:rPr>
              <a:t>Kiri-bawah: </a:t>
            </a:r>
            <a:r>
              <a:rPr lang="id-ID" sz="1300" dirty="0">
                <a:solidFill>
                  <a:srgbClr val="1F4E79"/>
                </a:solidFill>
              </a:rPr>
              <a:t>Kab. Lebak, Pandeglang, Garut.</a:t>
            </a:r>
          </a:p>
          <a:p>
            <a:pPr marL="171450" indent="-171450">
              <a:buFont typeface="Arial"/>
              <a:buChar char="•"/>
            </a:pPr>
            <a:r>
              <a:rPr lang="id-ID" sz="1300" b="1" dirty="0">
                <a:solidFill>
                  <a:srgbClr val="003366"/>
                </a:solidFill>
              </a:rPr>
              <a:t>ΔPC1 terbesar naik: </a:t>
            </a:r>
            <a:r>
              <a:rPr lang="id-ID" sz="1300" dirty="0">
                <a:solidFill>
                  <a:srgbClr val="1F4E79"/>
                </a:solidFill>
              </a:rPr>
              <a:t>Kota Tangsel (+0,85), Kota Bekasi (+0,39).</a:t>
            </a:r>
          </a:p>
          <a:p>
            <a:pPr marL="171450" indent="-171450">
              <a:buFont typeface="Arial"/>
              <a:buChar char="•"/>
            </a:pPr>
            <a:r>
              <a:rPr lang="id-ID" sz="1300" b="1" dirty="0">
                <a:solidFill>
                  <a:srgbClr val="003366"/>
                </a:solidFill>
              </a:rPr>
              <a:t>ΔPC1 terbesar turun: </a:t>
            </a:r>
            <a:r>
              <a:rPr lang="id-ID" sz="1300" dirty="0">
                <a:solidFill>
                  <a:srgbClr val="1F4E79"/>
                </a:solidFill>
              </a:rPr>
              <a:t>Kab. Pangandaran (−1,37), Garut (−0,61), Cianjur (−0,51).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08 / 15</a:t>
            </a:r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1270E8B1-A617-35C0-4F2A-FA26FDBE6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18" y="1619250"/>
            <a:ext cx="5326684" cy="4508500"/>
          </a:xfrm>
          <a:prstGeom prst="rect">
            <a:avLst/>
          </a:prstGeom>
        </p:spPr>
      </p:pic>
      <p:sp>
        <p:nvSpPr>
          <p:cNvPr id="108" name="FigLbl"/>
          <p:cNvSpPr txBox="1"/>
          <p:nvPr/>
        </p:nvSpPr>
        <p:spPr>
          <a:xfrm>
            <a:off x="3773488" y="4667250"/>
            <a:ext cx="2322512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300" b="1" dirty="0">
                <a:solidFill>
                  <a:srgbClr val="003366"/>
                </a:solidFill>
              </a:rPr>
              <a:t>BIPLOT KOMPROMI</a:t>
            </a:r>
          </a:p>
          <a:p>
            <a:pPr algn="ctr">
              <a:buNone/>
            </a:pPr>
            <a:endParaRPr lang="id-ID" sz="800" dirty="0"/>
          </a:p>
          <a:p>
            <a:pPr algn="ctr">
              <a:buNone/>
            </a:pPr>
            <a:r>
              <a:rPr lang="id-ID" sz="1200" dirty="0">
                <a:solidFill>
                  <a:srgbClr val="1F4E79"/>
                </a:solidFill>
              </a:rPr>
              <a:t>Eigenvalue λ₁ = 6,69    λ₂ = 1,21</a:t>
            </a:r>
          </a:p>
          <a:p>
            <a:pPr algn="ctr">
              <a:buNone/>
            </a:pPr>
            <a:r>
              <a:rPr lang="id-ID" sz="1200" dirty="0">
                <a:solidFill>
                  <a:srgbClr val="1F4E79"/>
                </a:solidFill>
              </a:rPr>
              <a:t>Variansi kumulatif 71,88%</a:t>
            </a:r>
          </a:p>
          <a:p>
            <a:pPr algn="ctr">
              <a:buNone/>
            </a:pPr>
            <a:r>
              <a:rPr lang="id-ID" sz="1200" dirty="0">
                <a:solidFill>
                  <a:srgbClr val="1F4E79"/>
                </a:solidFill>
              </a:rPr>
              <a:t>Bobot α seimbang 0,194–0,208</a:t>
            </a:r>
          </a:p>
          <a:p>
            <a:pPr algn="ctr">
              <a:buNone/>
            </a:pPr>
            <a:r>
              <a:rPr lang="id-ID" sz="1200" dirty="0">
                <a:solidFill>
                  <a:srgbClr val="1F4E79"/>
                </a:solidFill>
              </a:rPr>
              <a:t>(2023 = tahun paling representatif)</a:t>
            </a:r>
          </a:p>
        </p:txBody>
      </p:sp>
    </p:spTree>
    <p:extLst>
      <p:ext uri="{BB962C8B-B14F-4D97-AF65-F5344CB8AC3E}">
        <p14:creationId xmlns:p14="http://schemas.microsoft.com/office/powerpoint/2010/main" val="37232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Hasil: Tiga Pola Lintasan Trajektori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Card0Bg"/>
          <p:cNvSpPr/>
          <p:nvPr/>
        </p:nvSpPr>
        <p:spPr>
          <a:xfrm>
            <a:off x="368300" y="1397000"/>
            <a:ext cx="3683000" cy="2984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ard0TagBg"/>
          <p:cNvSpPr/>
          <p:nvPr/>
        </p:nvSpPr>
        <p:spPr>
          <a:xfrm>
            <a:off x="368300" y="1397000"/>
            <a:ext cx="36830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ard0Tag"/>
          <p:cNvSpPr txBox="1"/>
          <p:nvPr/>
        </p:nvSpPr>
        <p:spPr>
          <a:xfrm>
            <a:off x="368300" y="1397000"/>
            <a:ext cx="3683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POLA 1</a:t>
            </a:r>
          </a:p>
        </p:txBody>
      </p:sp>
      <p:sp>
        <p:nvSpPr>
          <p:cNvPr id="109" name="Card0Title"/>
          <p:cNvSpPr txBox="1"/>
          <p:nvPr/>
        </p:nvSpPr>
        <p:spPr>
          <a:xfrm>
            <a:off x="520700" y="21590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Pemulihan Berbentuk V</a:t>
            </a:r>
          </a:p>
        </p:txBody>
      </p:sp>
      <p:sp>
        <p:nvSpPr>
          <p:cNvPr id="110" name="Card0Desc"/>
          <p:cNvSpPr txBox="1"/>
          <p:nvPr/>
        </p:nvSpPr>
        <p:spPr>
          <a:xfrm>
            <a:off x="520700" y="2730500"/>
            <a:ext cx="33782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dirty="0">
                <a:solidFill>
                  <a:srgbClr val="1F4E79"/>
                </a:solidFill>
              </a:rPr>
              <a:t>V-shape rebound: penurunan tajam 2020–2021 diikuti pemulihan struktural pada 2022–2024.</a:t>
            </a:r>
          </a:p>
        </p:txBody>
      </p:sp>
      <p:sp>
        <p:nvSpPr>
          <p:cNvPr id="111" name="Card0Eg"/>
          <p:cNvSpPr txBox="1"/>
          <p:nvPr/>
        </p:nvSpPr>
        <p:spPr>
          <a:xfrm>
            <a:off x="520700" y="374650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i="1" dirty="0">
                <a:solidFill>
                  <a:srgbClr val="C8A951"/>
                </a:solidFill>
              </a:rPr>
              <a:t>Kota Tangsel (+0,85), Bekasi (+0,39), seluruh kota DKI Jakarta</a:t>
            </a:r>
          </a:p>
        </p:txBody>
      </p:sp>
      <p:sp>
        <p:nvSpPr>
          <p:cNvPr id="112" name="Card1Bg"/>
          <p:cNvSpPr/>
          <p:nvPr/>
        </p:nvSpPr>
        <p:spPr>
          <a:xfrm>
            <a:off x="4254500" y="1397000"/>
            <a:ext cx="3683000" cy="2984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Card1TagBg"/>
          <p:cNvSpPr/>
          <p:nvPr/>
        </p:nvSpPr>
        <p:spPr>
          <a:xfrm>
            <a:off x="4254500" y="1397000"/>
            <a:ext cx="36830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ard1Tag"/>
          <p:cNvSpPr txBox="1"/>
          <p:nvPr/>
        </p:nvSpPr>
        <p:spPr>
          <a:xfrm>
            <a:off x="4254500" y="1397000"/>
            <a:ext cx="3683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POLA 2</a:t>
            </a:r>
          </a:p>
        </p:txBody>
      </p:sp>
      <p:sp>
        <p:nvSpPr>
          <p:cNvPr id="115" name="Card1Title"/>
          <p:cNvSpPr txBox="1"/>
          <p:nvPr/>
        </p:nvSpPr>
        <p:spPr>
          <a:xfrm>
            <a:off x="4406900" y="21590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Progresif Bertahap</a:t>
            </a:r>
          </a:p>
        </p:txBody>
      </p:sp>
      <p:sp>
        <p:nvSpPr>
          <p:cNvPr id="116" name="Card1Desc"/>
          <p:cNvSpPr txBox="1"/>
          <p:nvPr/>
        </p:nvSpPr>
        <p:spPr>
          <a:xfrm>
            <a:off x="4406900" y="2730500"/>
            <a:ext cx="33782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dirty="0">
                <a:solidFill>
                  <a:srgbClr val="1F4E79"/>
                </a:solidFill>
              </a:rPr>
              <a:t>Monotone improvement: peningkatan PC1 konsisten dari tahun ke tahun pada wilayah penyangga.</a:t>
            </a:r>
          </a:p>
        </p:txBody>
      </p:sp>
      <p:sp>
        <p:nvSpPr>
          <p:cNvPr id="117" name="Card1Eg"/>
          <p:cNvSpPr txBox="1"/>
          <p:nvPr/>
        </p:nvSpPr>
        <p:spPr>
          <a:xfrm>
            <a:off x="4406900" y="374650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i="1" dirty="0">
                <a:solidFill>
                  <a:srgbClr val="C8A951"/>
                </a:solidFill>
              </a:rPr>
              <a:t>Kota Sukabumi (naik K1→K2 pada 2023)</a:t>
            </a:r>
          </a:p>
        </p:txBody>
      </p:sp>
      <p:sp>
        <p:nvSpPr>
          <p:cNvPr id="118" name="Card2Bg"/>
          <p:cNvSpPr/>
          <p:nvPr/>
        </p:nvSpPr>
        <p:spPr>
          <a:xfrm>
            <a:off x="8140700" y="1397000"/>
            <a:ext cx="3683000" cy="2984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Card2TagBg"/>
          <p:cNvSpPr/>
          <p:nvPr/>
        </p:nvSpPr>
        <p:spPr>
          <a:xfrm>
            <a:off x="8140700" y="1397000"/>
            <a:ext cx="36830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Card2Tag"/>
          <p:cNvSpPr txBox="1"/>
          <p:nvPr/>
        </p:nvSpPr>
        <p:spPr>
          <a:xfrm>
            <a:off x="8140700" y="1397000"/>
            <a:ext cx="3683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300" b="1" dirty="0">
                <a:solidFill>
                  <a:srgbClr val="FFFFFF"/>
                </a:solidFill>
              </a:rPr>
              <a:t>POLA 3</a:t>
            </a:r>
          </a:p>
        </p:txBody>
      </p:sp>
      <p:sp>
        <p:nvSpPr>
          <p:cNvPr id="121" name="Card2Title"/>
          <p:cNvSpPr txBox="1"/>
          <p:nvPr/>
        </p:nvSpPr>
        <p:spPr>
          <a:xfrm>
            <a:off x="8293100" y="21590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600" b="1" dirty="0">
                <a:solidFill>
                  <a:srgbClr val="003366"/>
                </a:solidFill>
              </a:rPr>
              <a:t>Stagnasi &amp; Penurunan</a:t>
            </a:r>
          </a:p>
        </p:txBody>
      </p:sp>
      <p:sp>
        <p:nvSpPr>
          <p:cNvPr id="122" name="Card2Desc"/>
          <p:cNvSpPr txBox="1"/>
          <p:nvPr/>
        </p:nvSpPr>
        <p:spPr>
          <a:xfrm>
            <a:off x="8293100" y="2730500"/>
            <a:ext cx="33782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dirty="0">
                <a:solidFill>
                  <a:srgbClr val="1F4E79"/>
                </a:solidFill>
              </a:rPr>
              <a:t>Inertia: skor PC1 justru menjauh dari wilayah Klaster Maju — kesenjangan melebar.</a:t>
            </a:r>
          </a:p>
        </p:txBody>
      </p:sp>
      <p:sp>
        <p:nvSpPr>
          <p:cNvPr id="123" name="Card2Eg"/>
          <p:cNvSpPr txBox="1"/>
          <p:nvPr/>
        </p:nvSpPr>
        <p:spPr>
          <a:xfrm>
            <a:off x="8293100" y="3746500"/>
            <a:ext cx="3378200" cy="57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i="1" dirty="0">
                <a:solidFill>
                  <a:srgbClr val="C8A951"/>
                </a:solidFill>
              </a:rPr>
              <a:t>Pangandaran (−1,37), Garut (−0,61), Cianjur (−0,51)</a:t>
            </a:r>
          </a:p>
        </p:txBody>
      </p:sp>
      <p:sp>
        <p:nvSpPr>
          <p:cNvPr id="130" name="InsBg"/>
          <p:cNvSpPr/>
          <p:nvPr/>
        </p:nvSpPr>
        <p:spPr>
          <a:xfrm>
            <a:off x="731520" y="4699000"/>
            <a:ext cx="11003280" cy="1524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InsEdge"/>
          <p:cNvSpPr/>
          <p:nvPr/>
        </p:nvSpPr>
        <p:spPr>
          <a:xfrm>
            <a:off x="731520" y="4699000"/>
            <a:ext cx="63500" cy="1524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InsLbl"/>
          <p:cNvSpPr txBox="1"/>
          <p:nvPr/>
        </p:nvSpPr>
        <p:spPr>
          <a:xfrm>
            <a:off x="985519" y="4851400"/>
            <a:ext cx="111760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C8A951"/>
                </a:solidFill>
              </a:rPr>
              <a:t>INTERPRETASI</a:t>
            </a:r>
          </a:p>
        </p:txBody>
      </p:sp>
      <p:sp>
        <p:nvSpPr>
          <p:cNvPr id="133" name="InsBody"/>
          <p:cNvSpPr txBox="1"/>
          <p:nvPr/>
        </p:nvSpPr>
        <p:spPr>
          <a:xfrm>
            <a:off x="985519" y="5207000"/>
            <a:ext cx="109220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Pemulihan tidak merata. Wilayah metropolitan mengalami V-shape rebound; pedalaman selatan justru mengalami inertia.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Kesenjangan pembangunan melebar, bukan menyempit, selama lima tahun pengamatan.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305476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Hasil: Tiga Klaster Spasial (k = 3)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StripeLbl"/>
          <p:cNvSpPr txBox="1"/>
          <p:nvPr/>
        </p:nvSpPr>
        <p:spPr>
          <a:xfrm>
            <a:off x="731520" y="990600"/>
            <a:ext cx="109016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C8A951"/>
                </a:solidFill>
              </a:rPr>
              <a:t>41 WILAYAH, DIBAGI MENJADI 3 KLASTER (K-MEANS PADA SKOR KOMPROMI)</a:t>
            </a:r>
          </a:p>
        </p:txBody>
      </p:sp>
      <p:sp>
        <p:nvSpPr>
          <p:cNvPr id="107" name="Sq0"/>
          <p:cNvSpPr/>
          <p:nvPr/>
        </p:nvSpPr>
        <p:spPr>
          <a:xfrm>
            <a:off x="6477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Sq1"/>
          <p:cNvSpPr/>
          <p:nvPr/>
        </p:nvSpPr>
        <p:spPr>
          <a:xfrm>
            <a:off x="9144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Sq2"/>
          <p:cNvSpPr/>
          <p:nvPr/>
        </p:nvSpPr>
        <p:spPr>
          <a:xfrm>
            <a:off x="11811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Sq3"/>
          <p:cNvSpPr/>
          <p:nvPr/>
        </p:nvSpPr>
        <p:spPr>
          <a:xfrm>
            <a:off x="14478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q4"/>
          <p:cNvSpPr/>
          <p:nvPr/>
        </p:nvSpPr>
        <p:spPr>
          <a:xfrm>
            <a:off x="17145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Sq5"/>
          <p:cNvSpPr/>
          <p:nvPr/>
        </p:nvSpPr>
        <p:spPr>
          <a:xfrm>
            <a:off x="19812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q6"/>
          <p:cNvSpPr/>
          <p:nvPr/>
        </p:nvSpPr>
        <p:spPr>
          <a:xfrm>
            <a:off x="22479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q7"/>
          <p:cNvSpPr/>
          <p:nvPr/>
        </p:nvSpPr>
        <p:spPr>
          <a:xfrm>
            <a:off x="25146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q8"/>
          <p:cNvSpPr/>
          <p:nvPr/>
        </p:nvSpPr>
        <p:spPr>
          <a:xfrm>
            <a:off x="27813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q9"/>
          <p:cNvSpPr/>
          <p:nvPr/>
        </p:nvSpPr>
        <p:spPr>
          <a:xfrm>
            <a:off x="30480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q10"/>
          <p:cNvSpPr/>
          <p:nvPr/>
        </p:nvSpPr>
        <p:spPr>
          <a:xfrm>
            <a:off x="33147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q11"/>
          <p:cNvSpPr/>
          <p:nvPr/>
        </p:nvSpPr>
        <p:spPr>
          <a:xfrm>
            <a:off x="3581400" y="1346200"/>
            <a:ext cx="228600" cy="2286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q12"/>
          <p:cNvSpPr/>
          <p:nvPr/>
        </p:nvSpPr>
        <p:spPr>
          <a:xfrm>
            <a:off x="38481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q13"/>
          <p:cNvSpPr/>
          <p:nvPr/>
        </p:nvSpPr>
        <p:spPr>
          <a:xfrm>
            <a:off x="41148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Sq14"/>
          <p:cNvSpPr/>
          <p:nvPr/>
        </p:nvSpPr>
        <p:spPr>
          <a:xfrm>
            <a:off x="43815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Sq15"/>
          <p:cNvSpPr/>
          <p:nvPr/>
        </p:nvSpPr>
        <p:spPr>
          <a:xfrm>
            <a:off x="46482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Sq16"/>
          <p:cNvSpPr/>
          <p:nvPr/>
        </p:nvSpPr>
        <p:spPr>
          <a:xfrm>
            <a:off x="49149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Sq17"/>
          <p:cNvSpPr/>
          <p:nvPr/>
        </p:nvSpPr>
        <p:spPr>
          <a:xfrm>
            <a:off x="51816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Sq18"/>
          <p:cNvSpPr/>
          <p:nvPr/>
        </p:nvSpPr>
        <p:spPr>
          <a:xfrm>
            <a:off x="54483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Sq19"/>
          <p:cNvSpPr/>
          <p:nvPr/>
        </p:nvSpPr>
        <p:spPr>
          <a:xfrm>
            <a:off x="57150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Sq20"/>
          <p:cNvSpPr/>
          <p:nvPr/>
        </p:nvSpPr>
        <p:spPr>
          <a:xfrm>
            <a:off x="59817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Sq21"/>
          <p:cNvSpPr/>
          <p:nvPr/>
        </p:nvSpPr>
        <p:spPr>
          <a:xfrm>
            <a:off x="62484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Sq22"/>
          <p:cNvSpPr/>
          <p:nvPr/>
        </p:nvSpPr>
        <p:spPr>
          <a:xfrm>
            <a:off x="65151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Sq23"/>
          <p:cNvSpPr/>
          <p:nvPr/>
        </p:nvSpPr>
        <p:spPr>
          <a:xfrm>
            <a:off x="67818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Sq24"/>
          <p:cNvSpPr/>
          <p:nvPr/>
        </p:nvSpPr>
        <p:spPr>
          <a:xfrm>
            <a:off x="70485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Sq25"/>
          <p:cNvSpPr/>
          <p:nvPr/>
        </p:nvSpPr>
        <p:spPr>
          <a:xfrm>
            <a:off x="73152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Sq26"/>
          <p:cNvSpPr/>
          <p:nvPr/>
        </p:nvSpPr>
        <p:spPr>
          <a:xfrm>
            <a:off x="75819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Sq27"/>
          <p:cNvSpPr/>
          <p:nvPr/>
        </p:nvSpPr>
        <p:spPr>
          <a:xfrm>
            <a:off x="7848600" y="1346200"/>
            <a:ext cx="228600" cy="2286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5" name="Sq28"/>
          <p:cNvSpPr/>
          <p:nvPr/>
        </p:nvSpPr>
        <p:spPr>
          <a:xfrm>
            <a:off x="81153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6" name="Sq29"/>
          <p:cNvSpPr/>
          <p:nvPr/>
        </p:nvSpPr>
        <p:spPr>
          <a:xfrm>
            <a:off x="83820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Sq30"/>
          <p:cNvSpPr/>
          <p:nvPr/>
        </p:nvSpPr>
        <p:spPr>
          <a:xfrm>
            <a:off x="86487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Sq31"/>
          <p:cNvSpPr/>
          <p:nvPr/>
        </p:nvSpPr>
        <p:spPr>
          <a:xfrm>
            <a:off x="89154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9" name="Sq32"/>
          <p:cNvSpPr/>
          <p:nvPr/>
        </p:nvSpPr>
        <p:spPr>
          <a:xfrm>
            <a:off x="91821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Sq33"/>
          <p:cNvSpPr/>
          <p:nvPr/>
        </p:nvSpPr>
        <p:spPr>
          <a:xfrm>
            <a:off x="94488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1" name="Sq34"/>
          <p:cNvSpPr/>
          <p:nvPr/>
        </p:nvSpPr>
        <p:spPr>
          <a:xfrm>
            <a:off x="97155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2" name="Sq35"/>
          <p:cNvSpPr/>
          <p:nvPr/>
        </p:nvSpPr>
        <p:spPr>
          <a:xfrm>
            <a:off x="99822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3" name="Sq36"/>
          <p:cNvSpPr/>
          <p:nvPr/>
        </p:nvSpPr>
        <p:spPr>
          <a:xfrm>
            <a:off x="102489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Sq37"/>
          <p:cNvSpPr/>
          <p:nvPr/>
        </p:nvSpPr>
        <p:spPr>
          <a:xfrm>
            <a:off x="105156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5" name="Sq38"/>
          <p:cNvSpPr/>
          <p:nvPr/>
        </p:nvSpPr>
        <p:spPr>
          <a:xfrm>
            <a:off x="107823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6" name="Sq39"/>
          <p:cNvSpPr/>
          <p:nvPr/>
        </p:nvSpPr>
        <p:spPr>
          <a:xfrm>
            <a:off x="110490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7" name="Sq40"/>
          <p:cNvSpPr/>
          <p:nvPr/>
        </p:nvSpPr>
        <p:spPr>
          <a:xfrm>
            <a:off x="11315700" y="1346200"/>
            <a:ext cx="228600" cy="2286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8" name="Cl0Band"/>
          <p:cNvSpPr/>
          <p:nvPr/>
        </p:nvSpPr>
        <p:spPr>
          <a:xfrm>
            <a:off x="4343400" y="1885950"/>
            <a:ext cx="2343150" cy="762000"/>
          </a:xfrm>
          <a:prstGeom prst="rect">
            <a:avLst/>
          </a:prstGeom>
          <a:solidFill>
            <a:srgbClr val="EF55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9" name="Cl0Hdr"/>
          <p:cNvSpPr txBox="1"/>
          <p:nvPr/>
        </p:nvSpPr>
        <p:spPr>
          <a:xfrm>
            <a:off x="4394200" y="1987550"/>
            <a:ext cx="211455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B2545"/>
                </a:solidFill>
              </a:rPr>
              <a:t>KLASTER 1   N = 12</a:t>
            </a:r>
          </a:p>
          <a:p>
            <a:pPr algn="l">
              <a:buNone/>
            </a:pPr>
            <a:r>
              <a:rPr lang="id-ID" sz="1700" b="1" dirty="0">
                <a:solidFill>
                  <a:srgbClr val="0B2545"/>
                </a:solidFill>
              </a:rPr>
              <a:t>Tertinggal</a:t>
            </a:r>
          </a:p>
        </p:txBody>
      </p:sp>
      <p:sp>
        <p:nvSpPr>
          <p:cNvPr id="150" name="Cl0Body"/>
          <p:cNvSpPr/>
          <p:nvPr/>
        </p:nvSpPr>
        <p:spPr>
          <a:xfrm>
            <a:off x="4343400" y="2647950"/>
            <a:ext cx="2343150" cy="27940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Cl0BodyTxt"/>
          <p:cNvSpPr txBox="1"/>
          <p:nvPr/>
        </p:nvSpPr>
        <p:spPr>
          <a:xfrm>
            <a:off x="4394200" y="2800350"/>
            <a:ext cx="226060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POLA TRAJEKTORI</a:t>
            </a:r>
          </a:p>
          <a:p>
            <a:pPr algn="l">
              <a:buNone/>
            </a:pPr>
            <a:r>
              <a:rPr lang="id-ID" sz="1300" dirty="0">
                <a:solidFill>
                  <a:srgbClr val="003366"/>
                </a:solidFill>
              </a:rPr>
              <a:t>Pola 3 (inertia)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WILAYAH</a:t>
            </a:r>
          </a:p>
          <a:p>
            <a:pPr algn="l">
              <a:buNone/>
            </a:pPr>
            <a:r>
              <a:rPr lang="id-ID" sz="1200" dirty="0">
                <a:solidFill>
                  <a:srgbClr val="1F4E79"/>
                </a:solidFill>
              </a:rPr>
              <a:t>Pandeglang, Lebak, Serang, Garut, Tasikmalaya, Cianjur, Majalengka, Indramayu, Ciamis, Pangandaran, Kota Banjar, Kep. Seribu.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ARAH KEBIJAKAN</a:t>
            </a:r>
          </a:p>
          <a:p>
            <a:pPr algn="l">
              <a:buNone/>
            </a:pPr>
            <a:r>
              <a:rPr lang="id-ID" sz="1200" dirty="0">
                <a:solidFill>
                  <a:srgbClr val="003366"/>
                </a:solidFill>
              </a:rPr>
              <a:t>Intervensi targeted regional — kapabilitas dasar (RLS, AHH) &amp; pengentasan kemiskinan.</a:t>
            </a:r>
          </a:p>
        </p:txBody>
      </p:sp>
      <p:sp>
        <p:nvSpPr>
          <p:cNvPr id="152" name="Cl1Band"/>
          <p:cNvSpPr/>
          <p:nvPr/>
        </p:nvSpPr>
        <p:spPr>
          <a:xfrm>
            <a:off x="6953250" y="1885950"/>
            <a:ext cx="2343150" cy="762000"/>
          </a:xfrm>
          <a:prstGeom prst="rect">
            <a:avLst/>
          </a:prstGeom>
          <a:solidFill>
            <a:srgbClr val="FFB9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3" name="Cl1Hdr"/>
          <p:cNvSpPr txBox="1"/>
          <p:nvPr/>
        </p:nvSpPr>
        <p:spPr>
          <a:xfrm>
            <a:off x="7004050" y="1987550"/>
            <a:ext cx="211455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B2545"/>
                </a:solidFill>
              </a:rPr>
              <a:t>KLASTER 2   N = 16</a:t>
            </a:r>
          </a:p>
          <a:p>
            <a:pPr algn="l">
              <a:buNone/>
            </a:pPr>
            <a:r>
              <a:rPr lang="id-ID" sz="1700" b="1" dirty="0">
                <a:solidFill>
                  <a:srgbClr val="0B2545"/>
                </a:solidFill>
              </a:rPr>
              <a:t>Berkembang</a:t>
            </a:r>
          </a:p>
        </p:txBody>
      </p:sp>
      <p:sp>
        <p:nvSpPr>
          <p:cNvPr id="154" name="Cl1Body"/>
          <p:cNvSpPr/>
          <p:nvPr/>
        </p:nvSpPr>
        <p:spPr>
          <a:xfrm>
            <a:off x="6953250" y="2647950"/>
            <a:ext cx="2343150" cy="27940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" name="Cl1BodyTxt"/>
          <p:cNvSpPr txBox="1"/>
          <p:nvPr/>
        </p:nvSpPr>
        <p:spPr>
          <a:xfrm>
            <a:off x="7004050" y="2800350"/>
            <a:ext cx="217805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POLA TRAJEKTORI</a:t>
            </a:r>
          </a:p>
          <a:p>
            <a:pPr algn="l">
              <a:buNone/>
            </a:pPr>
            <a:r>
              <a:rPr lang="id-ID" sz="1300" dirty="0">
                <a:solidFill>
                  <a:srgbClr val="003366"/>
                </a:solidFill>
              </a:rPr>
              <a:t>Pola 2 (monotone improvement)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WILAYAH</a:t>
            </a:r>
          </a:p>
          <a:p>
            <a:pPr algn="l">
              <a:buNone/>
            </a:pPr>
            <a:r>
              <a:rPr lang="id-ID" sz="1200" dirty="0">
                <a:solidFill>
                  <a:srgbClr val="1F4E79"/>
                </a:solidFill>
              </a:rPr>
              <a:t>Bogor, Sukabumi, Bandung, Kuningan, Cirebon, Sumedang, Subang, Purwakarta, Karawang, Bandung Barat, dll.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ARAH KEBIJAKAN</a:t>
            </a:r>
          </a:p>
          <a:p>
            <a:pPr algn="l">
              <a:buNone/>
            </a:pPr>
            <a:r>
              <a:rPr lang="id-ID" sz="1200" dirty="0">
                <a:solidFill>
                  <a:srgbClr val="003366"/>
                </a:solidFill>
              </a:rPr>
              <a:t>Penguatan kapasitas — regional spillover dari pusat pertumbuhan DKI Jakarta.</a:t>
            </a:r>
          </a:p>
        </p:txBody>
      </p:sp>
      <p:sp>
        <p:nvSpPr>
          <p:cNvPr id="156" name="Cl2Band"/>
          <p:cNvSpPr/>
          <p:nvPr/>
        </p:nvSpPr>
        <p:spPr>
          <a:xfrm>
            <a:off x="9594850" y="1885950"/>
            <a:ext cx="2343150" cy="762000"/>
          </a:xfrm>
          <a:prstGeom prst="rect">
            <a:avLst/>
          </a:prstGeom>
          <a:solidFill>
            <a:srgbClr val="44AB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7" name="Cl2Hdr"/>
          <p:cNvSpPr txBox="1"/>
          <p:nvPr/>
        </p:nvSpPr>
        <p:spPr>
          <a:xfrm>
            <a:off x="9645650" y="1987550"/>
            <a:ext cx="211455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B2545"/>
                </a:solidFill>
              </a:rPr>
              <a:t>KLASTER 3   N = 13</a:t>
            </a:r>
          </a:p>
          <a:p>
            <a:pPr algn="l">
              <a:buNone/>
            </a:pPr>
            <a:r>
              <a:rPr lang="id-ID" sz="1700" b="1" dirty="0">
                <a:solidFill>
                  <a:srgbClr val="0B2545"/>
                </a:solidFill>
              </a:rPr>
              <a:t>Maju</a:t>
            </a:r>
          </a:p>
        </p:txBody>
      </p:sp>
      <p:sp>
        <p:nvSpPr>
          <p:cNvPr id="158" name="Cl2Body"/>
          <p:cNvSpPr/>
          <p:nvPr/>
        </p:nvSpPr>
        <p:spPr>
          <a:xfrm>
            <a:off x="9594850" y="2647950"/>
            <a:ext cx="2343150" cy="27940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Cl2BodyTxt"/>
          <p:cNvSpPr txBox="1"/>
          <p:nvPr/>
        </p:nvSpPr>
        <p:spPr>
          <a:xfrm>
            <a:off x="9645650" y="2800350"/>
            <a:ext cx="229235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POLA TRAJEKTORI</a:t>
            </a:r>
          </a:p>
          <a:p>
            <a:pPr algn="l">
              <a:buNone/>
            </a:pPr>
            <a:r>
              <a:rPr lang="id-ID" sz="1300" dirty="0">
                <a:solidFill>
                  <a:srgbClr val="003366"/>
                </a:solidFill>
              </a:rPr>
              <a:t>Pola 1 (V-shape rebound)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WILAYAH</a:t>
            </a:r>
          </a:p>
          <a:p>
            <a:pPr algn="l">
              <a:buNone/>
            </a:pPr>
            <a:r>
              <a:rPr lang="id-ID" sz="1200" dirty="0">
                <a:solidFill>
                  <a:srgbClr val="1F4E79"/>
                </a:solidFill>
              </a:rPr>
              <a:t>5 kota DKI Jakarta, Kab. Bekasi, Kota Bogor, Bandung, Bekasi, Depok, Cimahi, Tangerang, Tangsel.</a:t>
            </a:r>
          </a:p>
          <a:p>
            <a:pPr algn="l">
              <a:buNone/>
            </a:pPr>
            <a:r>
              <a:rPr lang="id-ID" sz="1200" b="1" dirty="0">
                <a:solidFill>
                  <a:srgbClr val="C8A951"/>
                </a:solidFill>
              </a:rPr>
              <a:t>ARAH KEBIJAKAN</a:t>
            </a:r>
          </a:p>
          <a:p>
            <a:pPr algn="l">
              <a:buNone/>
            </a:pPr>
            <a:r>
              <a:rPr lang="id-ID" sz="1200" dirty="0">
                <a:solidFill>
                  <a:srgbClr val="003366"/>
                </a:solidFill>
              </a:rPr>
              <a:t>Pertahankan keunggulan — dorong fungsi pusat pertumbuhan ke wilayah sekitar.</a:t>
            </a:r>
          </a:p>
        </p:txBody>
      </p:sp>
      <p:sp>
        <p:nvSpPr>
          <p:cNvPr id="160" name="Validity"/>
          <p:cNvSpPr txBox="1"/>
          <p:nvPr/>
        </p:nvSpPr>
        <p:spPr>
          <a:xfrm>
            <a:off x="731520" y="5715000"/>
            <a:ext cx="1100328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C8A951"/>
                </a:solidFill>
              </a:rPr>
              <a:t>VALIDITAS KLASTER:   </a:t>
            </a:r>
            <a:r>
              <a:rPr lang="id-ID" sz="1300" dirty="0">
                <a:solidFill>
                  <a:srgbClr val="003366"/>
                </a:solidFill>
              </a:rPr>
              <a:t>Silhouette = 0,3883    Jumlah klaster optimal dipilih berdasarkan kombinasi Elbow + koefisien siluet.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10 / 15</a:t>
            </a:r>
          </a:p>
        </p:txBody>
      </p:sp>
      <p:pic>
        <p:nvPicPr>
          <p:cNvPr id="3" name="Gambar 2">
            <a:extLst>
              <a:ext uri="{FF2B5EF4-FFF2-40B4-BE49-F238E27FC236}">
                <a16:creationId xmlns:a16="http://schemas.microsoft.com/office/drawing/2014/main" id="{497F6383-4591-406C-1DA6-CE57DE969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" b="3402"/>
          <a:stretch>
            <a:fillRect/>
          </a:stretch>
        </p:blipFill>
        <p:spPr>
          <a:xfrm>
            <a:off x="342900" y="1873250"/>
            <a:ext cx="3733800" cy="3556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8403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Validasi Statistik Hasil Penelitian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Sub"/>
          <p:cNvSpPr txBox="1"/>
          <p:nvPr/>
        </p:nvSpPr>
        <p:spPr>
          <a:xfrm>
            <a:off x="731520" y="1016000"/>
            <a:ext cx="1090168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Struktur Kompromi Signifikan dan Stabil</a:t>
            </a:r>
          </a:p>
        </p:txBody>
      </p:sp>
      <p:sp>
        <p:nvSpPr>
          <p:cNvPr id="107" name="T0Bg"/>
          <p:cNvSpPr/>
          <p:nvPr/>
        </p:nvSpPr>
        <p:spPr>
          <a:xfrm>
            <a:off x="400050" y="1587500"/>
            <a:ext cx="3644900" cy="215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0KPI"/>
          <p:cNvSpPr txBox="1"/>
          <p:nvPr/>
        </p:nvSpPr>
        <p:spPr>
          <a:xfrm>
            <a:off x="577850" y="1816100"/>
            <a:ext cx="32893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3400" b="1" dirty="0">
                <a:solidFill>
                  <a:srgbClr val="FFFFFF"/>
                </a:solidFill>
              </a:rPr>
              <a:t>p = 0,0010</a:t>
            </a:r>
          </a:p>
        </p:txBody>
      </p:sp>
      <p:sp>
        <p:nvSpPr>
          <p:cNvPr id="109" name="T0Lbl"/>
          <p:cNvSpPr txBox="1"/>
          <p:nvPr/>
        </p:nvSpPr>
        <p:spPr>
          <a:xfrm>
            <a:off x="577850" y="2654300"/>
            <a:ext cx="328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400" b="1" dirty="0">
                <a:solidFill>
                  <a:srgbClr val="C8A951"/>
                </a:solidFill>
              </a:rPr>
              <a:t>UJI PERMUTASI</a:t>
            </a:r>
          </a:p>
        </p:txBody>
      </p:sp>
      <p:sp>
        <p:nvSpPr>
          <p:cNvPr id="110" name="T0Desc"/>
          <p:cNvSpPr txBox="1"/>
          <p:nvPr/>
        </p:nvSpPr>
        <p:spPr>
          <a:xfrm>
            <a:off x="577850" y="2984500"/>
            <a:ext cx="32893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300" dirty="0">
                <a:solidFill>
                  <a:srgbClr val="FFFFFF"/>
                </a:solidFill>
              </a:rPr>
              <a:t>Monte Carlo B = 1.000. Struktur kompromi signifikan secara statistik (p &lt; 0,05) — bukan hasil fluktuasi acak.</a:t>
            </a:r>
          </a:p>
        </p:txBody>
      </p:sp>
      <p:sp>
        <p:nvSpPr>
          <p:cNvPr id="111" name="T1Bg"/>
          <p:cNvSpPr/>
          <p:nvPr/>
        </p:nvSpPr>
        <p:spPr>
          <a:xfrm>
            <a:off x="4273550" y="1587500"/>
            <a:ext cx="3644900" cy="215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1KPI"/>
          <p:cNvSpPr txBox="1"/>
          <p:nvPr/>
        </p:nvSpPr>
        <p:spPr>
          <a:xfrm>
            <a:off x="4451350" y="1816100"/>
            <a:ext cx="32893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3400" b="1" dirty="0">
                <a:solidFill>
                  <a:srgbClr val="FFFFFF"/>
                </a:solidFill>
              </a:rPr>
              <a:t>71,88%</a:t>
            </a:r>
          </a:p>
        </p:txBody>
      </p:sp>
      <p:sp>
        <p:nvSpPr>
          <p:cNvPr id="113" name="T1Lbl"/>
          <p:cNvSpPr txBox="1"/>
          <p:nvPr/>
        </p:nvSpPr>
        <p:spPr>
          <a:xfrm>
            <a:off x="4451350" y="2654300"/>
            <a:ext cx="328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400" b="1" dirty="0">
                <a:solidFill>
                  <a:srgbClr val="C8A951"/>
                </a:solidFill>
              </a:rPr>
              <a:t>VARIANSI TERJELASKAN</a:t>
            </a:r>
          </a:p>
        </p:txBody>
      </p:sp>
      <p:sp>
        <p:nvSpPr>
          <p:cNvPr id="114" name="T1Desc"/>
          <p:cNvSpPr txBox="1"/>
          <p:nvPr/>
        </p:nvSpPr>
        <p:spPr>
          <a:xfrm>
            <a:off x="4451350" y="2984500"/>
            <a:ext cx="32893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300" dirty="0">
                <a:solidFill>
                  <a:srgbClr val="FFFFFF"/>
                </a:solidFill>
              </a:rPr>
              <a:t>Dim 1 (60,85%) + Dim 2 (11,03%) melampaui ambang 70% — patahan (elbow) jelas setelah Dim 2.</a:t>
            </a:r>
          </a:p>
        </p:txBody>
      </p:sp>
      <p:sp>
        <p:nvSpPr>
          <p:cNvPr id="115" name="T2Bg"/>
          <p:cNvSpPr/>
          <p:nvPr/>
        </p:nvSpPr>
        <p:spPr>
          <a:xfrm>
            <a:off x="8147050" y="1587500"/>
            <a:ext cx="3644900" cy="215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2KPI"/>
          <p:cNvSpPr txBox="1"/>
          <p:nvPr/>
        </p:nvSpPr>
        <p:spPr>
          <a:xfrm>
            <a:off x="8324850" y="1816100"/>
            <a:ext cx="32893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3400" b="1" dirty="0">
                <a:solidFill>
                  <a:srgbClr val="FFFFFF"/>
                </a:solidFill>
              </a:rPr>
              <a:t>0,3883</a:t>
            </a:r>
          </a:p>
        </p:txBody>
      </p:sp>
      <p:sp>
        <p:nvSpPr>
          <p:cNvPr id="117" name="T2Lbl"/>
          <p:cNvSpPr txBox="1"/>
          <p:nvPr/>
        </p:nvSpPr>
        <p:spPr>
          <a:xfrm>
            <a:off x="8324850" y="2654300"/>
            <a:ext cx="328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400" b="1" dirty="0">
                <a:solidFill>
                  <a:srgbClr val="C8A951"/>
                </a:solidFill>
              </a:rPr>
              <a:t>KOEFISIEN SILUET RATA-RATA</a:t>
            </a:r>
          </a:p>
        </p:txBody>
      </p:sp>
      <p:sp>
        <p:nvSpPr>
          <p:cNvPr id="118" name="T2Desc"/>
          <p:cNvSpPr txBox="1"/>
          <p:nvPr/>
        </p:nvSpPr>
        <p:spPr>
          <a:xfrm>
            <a:off x="8324850" y="2984500"/>
            <a:ext cx="32893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1300" dirty="0">
                <a:solidFill>
                  <a:srgbClr val="FFFFFF"/>
                </a:solidFill>
              </a:rPr>
              <a:t>Pemisahan antar-klaster memadai. Dipadukan dengan kurva Elbow dalam penentuan k = 3 optimal.</a:t>
            </a:r>
          </a:p>
        </p:txBody>
      </p:sp>
      <p:sp>
        <p:nvSpPr>
          <p:cNvPr id="119" name="RobLbl"/>
          <p:cNvSpPr txBox="1"/>
          <p:nvPr/>
        </p:nvSpPr>
        <p:spPr>
          <a:xfrm>
            <a:off x="731520" y="4064000"/>
            <a:ext cx="1090168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b="1" dirty="0">
                <a:solidFill>
                  <a:srgbClr val="003366"/>
                </a:solidFill>
              </a:rPr>
              <a:t>VALIDASI TAMBAHAN</a:t>
            </a:r>
          </a:p>
        </p:txBody>
      </p:sp>
      <p:sp>
        <p:nvSpPr>
          <p:cNvPr id="120" name="Robs"/>
          <p:cNvSpPr txBox="1"/>
          <p:nvPr/>
        </p:nvSpPr>
        <p:spPr>
          <a:xfrm>
            <a:off x="731520" y="4445000"/>
            <a:ext cx="10901680" cy="184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buFont typeface="Arial"/>
              <a:buChar char="•"/>
            </a:pPr>
            <a:r>
              <a:rPr lang="id-ID" sz="1400" b="1" dirty="0">
                <a:solidFill>
                  <a:srgbClr val="003366"/>
                </a:solidFill>
              </a:rPr>
              <a:t>Stabilitas inter-struktur: </a:t>
            </a:r>
            <a:r>
              <a:rPr lang="id-ID" sz="1400" dirty="0">
                <a:solidFill>
                  <a:srgbClr val="1F4E79"/>
                </a:solidFill>
              </a:rPr>
              <a:t>seluruh koefisien RV &gt; 0,9543 — hierarki antar-wilayah tetap stabil lintas waktu.</a:t>
            </a:r>
          </a:p>
          <a:p>
            <a:pPr marL="228600" indent="-228600">
              <a:buFont typeface="Arial"/>
              <a:buChar char="•"/>
            </a:pPr>
            <a:r>
              <a:rPr lang="id-ID" sz="1400" b="1" dirty="0">
                <a:solidFill>
                  <a:srgbClr val="003366"/>
                </a:solidFill>
              </a:rPr>
              <a:t>Bobot α seimbang: </a:t>
            </a:r>
            <a:r>
              <a:rPr lang="id-ID" sz="1400" dirty="0">
                <a:solidFill>
                  <a:srgbClr val="1F4E79"/>
                </a:solidFill>
              </a:rPr>
              <a:t>0,1938–0,2076 — tidak ada tahun dominan; 2023 paling representatif.</a:t>
            </a:r>
          </a:p>
          <a:p>
            <a:pPr marL="228600" indent="-228600">
              <a:buFont typeface="Arial"/>
              <a:buChar char="•"/>
            </a:pPr>
            <a:r>
              <a:rPr lang="id-ID" sz="1400" b="1" dirty="0">
                <a:solidFill>
                  <a:srgbClr val="003366"/>
                </a:solidFill>
              </a:rPr>
              <a:t>Validasi eksternal: </a:t>
            </a:r>
            <a:r>
              <a:rPr lang="id-ID" sz="1400" dirty="0">
                <a:solidFill>
                  <a:srgbClr val="1F4E79"/>
                </a:solidFill>
              </a:rPr>
              <a:t>klaster sejajar dengan kategori normatif IPM UNDP — mayoritas anggota K3 berkategori IPM “Sangat Tinggi”.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315281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Pembahasan: Apa Arti Hasil Ini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C0Bg"/>
          <p:cNvSpPr/>
          <p:nvPr/>
        </p:nvSpPr>
        <p:spPr>
          <a:xfrm>
            <a:off x="400050" y="1333500"/>
            <a:ext cx="3644900" cy="374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0Hdr"/>
          <p:cNvSpPr/>
          <p:nvPr/>
        </p:nvSpPr>
        <p:spPr>
          <a:xfrm>
            <a:off x="400050" y="1333500"/>
            <a:ext cx="36449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0Lbl"/>
          <p:cNvSpPr txBox="1"/>
          <p:nvPr/>
        </p:nvSpPr>
        <p:spPr>
          <a:xfrm>
            <a:off x="577850" y="1485900"/>
            <a:ext cx="32893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FFFFFF"/>
                </a:solidFill>
              </a:rPr>
              <a:t>KONTRIBUSI METODOLOGIS</a:t>
            </a:r>
          </a:p>
        </p:txBody>
      </p:sp>
      <p:sp>
        <p:nvSpPr>
          <p:cNvPr id="109" name="C0Title"/>
          <p:cNvSpPr txBox="1"/>
          <p:nvPr/>
        </p:nvSpPr>
        <p:spPr>
          <a:xfrm>
            <a:off x="577850" y="2247900"/>
            <a:ext cx="32893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Melampaui PCA Tahunan</a:t>
            </a:r>
          </a:p>
        </p:txBody>
      </p:sp>
      <p:sp>
        <p:nvSpPr>
          <p:cNvPr id="110" name="C0Div"/>
          <p:cNvSpPr/>
          <p:nvPr/>
        </p:nvSpPr>
        <p:spPr>
          <a:xfrm>
            <a:off x="577850" y="3048000"/>
            <a:ext cx="635000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C0Body"/>
          <p:cNvSpPr txBox="1"/>
          <p:nvPr/>
        </p:nvSpPr>
        <p:spPr>
          <a:xfrm>
            <a:off x="577850" y="3238500"/>
            <a:ext cx="32893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PCA tahunan kehilangan struktur temporal. STATIS menyintesis pola lintas-seksional dan trajektori longitudinal dalam satu ruang kompromi berdimensi rendah yang stabil.</a:t>
            </a:r>
          </a:p>
        </p:txBody>
      </p:sp>
      <p:sp>
        <p:nvSpPr>
          <p:cNvPr id="112" name="C1Bg"/>
          <p:cNvSpPr/>
          <p:nvPr/>
        </p:nvSpPr>
        <p:spPr>
          <a:xfrm>
            <a:off x="4273550" y="1333500"/>
            <a:ext cx="3644900" cy="374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C1Hdr"/>
          <p:cNvSpPr/>
          <p:nvPr/>
        </p:nvSpPr>
        <p:spPr>
          <a:xfrm>
            <a:off x="4273550" y="1333500"/>
            <a:ext cx="36449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1Lbl"/>
          <p:cNvSpPr txBox="1"/>
          <p:nvPr/>
        </p:nvSpPr>
        <p:spPr>
          <a:xfrm>
            <a:off x="4451350" y="1485900"/>
            <a:ext cx="32893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FFFFFF"/>
                </a:solidFill>
              </a:rPr>
              <a:t>KONTRIBUSI SUBSTANTIF</a:t>
            </a:r>
          </a:p>
        </p:txBody>
      </p:sp>
      <p:sp>
        <p:nvSpPr>
          <p:cNvPr id="115" name="C1Title"/>
          <p:cNvSpPr txBox="1"/>
          <p:nvPr/>
        </p:nvSpPr>
        <p:spPr>
          <a:xfrm>
            <a:off x="4451350" y="2247900"/>
            <a:ext cx="32893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Pemulihan Bergantung Kapasitas Awal</a:t>
            </a:r>
          </a:p>
        </p:txBody>
      </p:sp>
      <p:sp>
        <p:nvSpPr>
          <p:cNvPr id="116" name="C1Div"/>
          <p:cNvSpPr/>
          <p:nvPr/>
        </p:nvSpPr>
        <p:spPr>
          <a:xfrm>
            <a:off x="4451350" y="3048000"/>
            <a:ext cx="635000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C1Body"/>
          <p:cNvSpPr txBox="1"/>
          <p:nvPr/>
        </p:nvSpPr>
        <p:spPr>
          <a:xfrm>
            <a:off x="4451350" y="3238500"/>
            <a:ext cx="32893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Klaster Maju mengalami V-shape rebound; Klaster Tertinggal mengalami inertia. Pemulihan ditentukan oleh kapabilitas dasar (RLS, AHH) dan kapasitas struktural prapandemi.</a:t>
            </a:r>
          </a:p>
        </p:txBody>
      </p:sp>
      <p:sp>
        <p:nvSpPr>
          <p:cNvPr id="118" name="C2Bg"/>
          <p:cNvSpPr/>
          <p:nvPr/>
        </p:nvSpPr>
        <p:spPr>
          <a:xfrm>
            <a:off x="8147050" y="1333500"/>
            <a:ext cx="3644900" cy="3746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C2Hdr"/>
          <p:cNvSpPr/>
          <p:nvPr/>
        </p:nvSpPr>
        <p:spPr>
          <a:xfrm>
            <a:off x="8147050" y="1333500"/>
            <a:ext cx="36449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C2Lbl"/>
          <p:cNvSpPr txBox="1"/>
          <p:nvPr/>
        </p:nvSpPr>
        <p:spPr>
          <a:xfrm>
            <a:off x="8324850" y="1485900"/>
            <a:ext cx="32893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300" b="1" dirty="0">
                <a:solidFill>
                  <a:srgbClr val="FFFFFF"/>
                </a:solidFill>
              </a:rPr>
              <a:t>KONTRIBUSI KEBIJAKAN</a:t>
            </a:r>
          </a:p>
        </p:txBody>
      </p:sp>
      <p:sp>
        <p:nvSpPr>
          <p:cNvPr id="121" name="C2Title"/>
          <p:cNvSpPr txBox="1"/>
          <p:nvPr/>
        </p:nvSpPr>
        <p:spPr>
          <a:xfrm>
            <a:off x="8324850" y="2247900"/>
            <a:ext cx="32893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003366"/>
                </a:solidFill>
              </a:rPr>
              <a:t>Kebijakan Targeted Regional</a:t>
            </a:r>
          </a:p>
        </p:txBody>
      </p:sp>
      <p:sp>
        <p:nvSpPr>
          <p:cNvPr id="122" name="C2Div"/>
          <p:cNvSpPr/>
          <p:nvPr/>
        </p:nvSpPr>
        <p:spPr>
          <a:xfrm>
            <a:off x="8324850" y="3048000"/>
            <a:ext cx="635000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C2Body"/>
          <p:cNvSpPr txBox="1"/>
          <p:nvPr/>
        </p:nvSpPr>
        <p:spPr>
          <a:xfrm>
            <a:off x="8324850" y="3238500"/>
            <a:ext cx="3289300" cy="165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Kebijakan seragam memperkuat hierarki. Intervensi targeted regional pada Klaster 1 (Lebak, Pandeglang, Garut) dan regional spillover dari DKI Jakarta diperlukan untuk memutus pola yang stabil lintas waktu.</a:t>
            </a:r>
          </a:p>
        </p:txBody>
      </p:sp>
      <p:sp>
        <p:nvSpPr>
          <p:cNvPr id="124" name="ThesisBg"/>
          <p:cNvSpPr/>
          <p:nvPr/>
        </p:nvSpPr>
        <p:spPr>
          <a:xfrm>
            <a:off x="731520" y="5270500"/>
            <a:ext cx="11003280" cy="1016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hesisEdge"/>
          <p:cNvSpPr/>
          <p:nvPr/>
        </p:nvSpPr>
        <p:spPr>
          <a:xfrm>
            <a:off x="731520" y="5270500"/>
            <a:ext cx="63500" cy="1016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ThesisBody"/>
          <p:cNvSpPr txBox="1"/>
          <p:nvPr/>
        </p:nvSpPr>
        <p:spPr>
          <a:xfrm>
            <a:off x="985519" y="5397500"/>
            <a:ext cx="10922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800" b="1" dirty="0">
                <a:solidFill>
                  <a:srgbClr val="003366"/>
                </a:solidFill>
              </a:rPr>
              <a:t>Pandemi memperjelas — bukan menciptakan — kesenjangan struktural.</a:t>
            </a:r>
          </a:p>
          <a:p>
            <a:pPr algn="l">
              <a:buNone/>
            </a:pPr>
            <a:r>
              <a:rPr lang="id-ID" sz="1500" dirty="0">
                <a:solidFill>
                  <a:srgbClr val="1F4E79"/>
                </a:solidFill>
              </a:rPr>
              <a:t>Ia menyingkap wilayah mana yang sejak lama rapuh secara struktural.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2179899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Keterbatasan &amp; Saran Penelitian Lanjutan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LimHdr"/>
          <p:cNvSpPr/>
          <p:nvPr/>
        </p:nvSpPr>
        <p:spPr>
          <a:xfrm>
            <a:off x="508000" y="1270000"/>
            <a:ext cx="5397500" cy="635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LimTitle"/>
          <p:cNvSpPr txBox="1"/>
          <p:nvPr/>
        </p:nvSpPr>
        <p:spPr>
          <a:xfrm>
            <a:off x="736600" y="1422400"/>
            <a:ext cx="49403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FFFFFF"/>
                </a:solidFill>
              </a:rPr>
              <a:t>Keterbatasan</a:t>
            </a:r>
          </a:p>
        </p:txBody>
      </p:sp>
      <p:sp>
        <p:nvSpPr>
          <p:cNvPr id="108" name="LimBody"/>
          <p:cNvSpPr/>
          <p:nvPr/>
        </p:nvSpPr>
        <p:spPr>
          <a:xfrm>
            <a:off x="508000" y="1905000"/>
            <a:ext cx="5397500" cy="41910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LimList"/>
          <p:cNvSpPr txBox="1"/>
          <p:nvPr/>
        </p:nvSpPr>
        <p:spPr>
          <a:xfrm>
            <a:off x="736600" y="2057400"/>
            <a:ext cx="4940300" cy="391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Cakupan wilayah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Hanya 3 provinsi (Banten, DKI, Jabar); Pulau Jawa &amp; Indonesia Timur belum tercakup.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Indikator makroekonomi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Terbatas pada data BPS; dimensi sosial-infrastruktur lain belum diintegrasikan.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Resolusi temporal tahunan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Data triwulanan dapat menangkap dinamika lebih halus.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Pendekatan deskriptif-eksploratif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Belum mencakup peramalan (forecasting) skor wilayah ke tahun berikutnya.</a:t>
            </a:r>
          </a:p>
        </p:txBody>
      </p:sp>
      <p:sp>
        <p:nvSpPr>
          <p:cNvPr id="110" name="FutHdr"/>
          <p:cNvSpPr/>
          <p:nvPr/>
        </p:nvSpPr>
        <p:spPr>
          <a:xfrm>
            <a:off x="6286500" y="1270000"/>
            <a:ext cx="5397500" cy="635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FutTitle"/>
          <p:cNvSpPr txBox="1"/>
          <p:nvPr/>
        </p:nvSpPr>
        <p:spPr>
          <a:xfrm>
            <a:off x="6515100" y="1422400"/>
            <a:ext cx="49403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2000" b="1" dirty="0">
                <a:solidFill>
                  <a:srgbClr val="FFFFFF"/>
                </a:solidFill>
              </a:rPr>
              <a:t>Saran Penelitian Lanjutan</a:t>
            </a:r>
          </a:p>
        </p:txBody>
      </p:sp>
      <p:sp>
        <p:nvSpPr>
          <p:cNvPr id="112" name="FutBody"/>
          <p:cNvSpPr/>
          <p:nvPr/>
        </p:nvSpPr>
        <p:spPr>
          <a:xfrm>
            <a:off x="6286500" y="1905000"/>
            <a:ext cx="5397500" cy="419100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FutList"/>
          <p:cNvSpPr txBox="1"/>
          <p:nvPr/>
        </p:nvSpPr>
        <p:spPr>
          <a:xfrm>
            <a:off x="6515100" y="2057400"/>
            <a:ext cx="4940300" cy="391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Perluasan cakupan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Pulau Jawa atau seluruh Indonesia; integrasi metode Dual STATIS.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Model prediktif (forecasting)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ARIMA / VAR / Grey Systems GM(1,1) pada koordinat kompromi (fᵢ,ₖ) dan loading (gⱼ,ₖ).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Indikator sosial-infrastruktur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Memperkaya dimensi analisis di luar variabel makroekonomi BPS.</a:t>
            </a:r>
          </a:p>
          <a:p>
            <a:pPr algn="l">
              <a:buNone/>
            </a:pPr>
            <a:r>
              <a:rPr lang="id-ID" sz="1500" b="1" dirty="0">
                <a:solidFill>
                  <a:srgbClr val="003366"/>
                </a:solidFill>
              </a:rPr>
              <a:t>Dashboard interaktif</a:t>
            </a:r>
          </a:p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Integrasi API BPS Open Data untuk pemantauan near real-time.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482204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HeaderGold"/>
          <p:cNvSpPr/>
          <p:nvPr/>
        </p:nvSpPr>
        <p:spPr>
          <a:xfrm>
            <a:off x="0" y="889000"/>
            <a:ext cx="1219200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PageTitle"/>
          <p:cNvSpPr txBox="1"/>
          <p:nvPr/>
        </p:nvSpPr>
        <p:spPr>
          <a:xfrm>
            <a:off x="731520" y="0"/>
            <a:ext cx="8890000" cy="8890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l">
              <a:buNone/>
            </a:pPr>
            <a:r>
              <a:rPr lang="id-ID" sz="2800" b="1" dirty="0">
                <a:solidFill>
                  <a:srgbClr val="FFFFFF"/>
                </a:solidFill>
              </a:rPr>
              <a:t>Kesimpulan &amp; Implikasi Kebijakan</a:t>
            </a:r>
          </a:p>
        </p:txBody>
      </p:sp>
      <p:sp>
        <p:nvSpPr>
          <p:cNvPr id="104" name="FooterBar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ooterText"/>
          <p:cNvSpPr txBox="1"/>
          <p:nvPr/>
        </p:nvSpPr>
        <p:spPr>
          <a:xfrm>
            <a:off x="731520" y="6477000"/>
            <a:ext cx="9652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200" dirty="0">
                <a:solidFill>
                  <a:srgbClr val="FFFFFF"/>
                </a:solidFill>
              </a:rPr>
              <a:t>Ammar Hanafi  |  STATIS &amp; Dynamic Biplot  |  S1 Statistika FMIPA UI  |  Juni 2026</a:t>
            </a:r>
          </a:p>
        </p:txBody>
      </p:sp>
      <p:sp>
        <p:nvSpPr>
          <p:cNvPr id="106" name="R0Bg"/>
          <p:cNvSpPr/>
          <p:nvPr/>
        </p:nvSpPr>
        <p:spPr>
          <a:xfrm>
            <a:off x="731520" y="1206500"/>
            <a:ext cx="11003280" cy="1206500"/>
          </a:xfrm>
          <a:prstGeom prst="rect">
            <a:avLst/>
          </a:prstGeom>
          <a:solidFill>
            <a:srgbClr val="FAFAFA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R0NumBg"/>
          <p:cNvSpPr/>
          <p:nvPr/>
        </p:nvSpPr>
        <p:spPr>
          <a:xfrm>
            <a:off x="731520" y="1206500"/>
            <a:ext cx="932180" cy="1206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R0Num"/>
          <p:cNvSpPr txBox="1"/>
          <p:nvPr/>
        </p:nvSpPr>
        <p:spPr>
          <a:xfrm>
            <a:off x="731520" y="1206500"/>
            <a:ext cx="932180" cy="1206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C8A951"/>
                </a:solidFill>
              </a:rPr>
              <a:t>01</a:t>
            </a:r>
          </a:p>
        </p:txBody>
      </p:sp>
      <p:sp>
        <p:nvSpPr>
          <p:cNvPr id="109" name="R0Head"/>
          <p:cNvSpPr txBox="1"/>
          <p:nvPr/>
        </p:nvSpPr>
        <p:spPr>
          <a:xfrm>
            <a:off x="1905000" y="13843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800" b="1" dirty="0">
                <a:solidFill>
                  <a:srgbClr val="003366"/>
                </a:solidFill>
              </a:rPr>
              <a:t>Kesenjangan bersifat struktural, bukan akibat pandemi</a:t>
            </a:r>
          </a:p>
        </p:txBody>
      </p:sp>
      <p:sp>
        <p:nvSpPr>
          <p:cNvPr id="110" name="R0Body"/>
          <p:cNvSpPr txBox="1"/>
          <p:nvPr/>
        </p:nvSpPr>
        <p:spPr>
          <a:xfrm>
            <a:off x="1905000" y="18415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RV &gt; 0,9543 lintas 2020–2024 — hierarki kemiripan antar-wilayah tetap stabil secara fundamental.</a:t>
            </a:r>
          </a:p>
        </p:txBody>
      </p:sp>
      <p:sp>
        <p:nvSpPr>
          <p:cNvPr id="111" name="R1Bg"/>
          <p:cNvSpPr/>
          <p:nvPr/>
        </p:nvSpPr>
        <p:spPr>
          <a:xfrm>
            <a:off x="731520" y="2565400"/>
            <a:ext cx="11003280" cy="1206500"/>
          </a:xfrm>
          <a:prstGeom prst="rect">
            <a:avLst/>
          </a:prstGeom>
          <a:solidFill>
            <a:srgbClr val="FAFAFA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R1NumBg"/>
          <p:cNvSpPr/>
          <p:nvPr/>
        </p:nvSpPr>
        <p:spPr>
          <a:xfrm>
            <a:off x="731520" y="2565400"/>
            <a:ext cx="932180" cy="1206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R1Num"/>
          <p:cNvSpPr txBox="1"/>
          <p:nvPr/>
        </p:nvSpPr>
        <p:spPr>
          <a:xfrm>
            <a:off x="731520" y="2565400"/>
            <a:ext cx="932180" cy="1206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C8A951"/>
                </a:solidFill>
              </a:rPr>
              <a:t>02</a:t>
            </a:r>
          </a:p>
        </p:txBody>
      </p:sp>
      <p:sp>
        <p:nvSpPr>
          <p:cNvPr id="114" name="R1Head"/>
          <p:cNvSpPr txBox="1"/>
          <p:nvPr/>
        </p:nvSpPr>
        <p:spPr>
          <a:xfrm>
            <a:off x="1905000" y="27432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800" b="1" dirty="0">
                <a:solidFill>
                  <a:srgbClr val="003366"/>
                </a:solidFill>
              </a:rPr>
              <a:t>Pemulihan tergantung kapasitas struktural awal</a:t>
            </a:r>
          </a:p>
        </p:txBody>
      </p:sp>
      <p:sp>
        <p:nvSpPr>
          <p:cNvPr id="115" name="R1Body"/>
          <p:cNvSpPr txBox="1"/>
          <p:nvPr/>
        </p:nvSpPr>
        <p:spPr>
          <a:xfrm>
            <a:off x="1905000" y="32004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Klaster Maju mengalami V-shape rebound; Klaster Tertinggal tetap pada pola inertia.</a:t>
            </a:r>
          </a:p>
        </p:txBody>
      </p:sp>
      <p:sp>
        <p:nvSpPr>
          <p:cNvPr id="116" name="R2Bg"/>
          <p:cNvSpPr/>
          <p:nvPr/>
        </p:nvSpPr>
        <p:spPr>
          <a:xfrm>
            <a:off x="731520" y="3924300"/>
            <a:ext cx="11003280" cy="1206500"/>
          </a:xfrm>
          <a:prstGeom prst="rect">
            <a:avLst/>
          </a:prstGeom>
          <a:solidFill>
            <a:srgbClr val="FAFAFA"/>
          </a:solidFill>
          <a:ln w="9525">
            <a:solidFill>
              <a:srgbClr val="C8A95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R2NumBg"/>
          <p:cNvSpPr/>
          <p:nvPr/>
        </p:nvSpPr>
        <p:spPr>
          <a:xfrm>
            <a:off x="731520" y="3924300"/>
            <a:ext cx="932180" cy="1206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R2Num"/>
          <p:cNvSpPr txBox="1"/>
          <p:nvPr/>
        </p:nvSpPr>
        <p:spPr>
          <a:xfrm>
            <a:off x="731520" y="3924300"/>
            <a:ext cx="932180" cy="1206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600" b="1" dirty="0">
                <a:solidFill>
                  <a:srgbClr val="C8A951"/>
                </a:solidFill>
              </a:rPr>
              <a:t>03</a:t>
            </a:r>
          </a:p>
        </p:txBody>
      </p:sp>
      <p:sp>
        <p:nvSpPr>
          <p:cNvPr id="119" name="R2Head"/>
          <p:cNvSpPr txBox="1"/>
          <p:nvPr/>
        </p:nvSpPr>
        <p:spPr>
          <a:xfrm>
            <a:off x="1905000" y="41021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800" b="1" dirty="0">
                <a:solidFill>
                  <a:srgbClr val="003366"/>
                </a:solidFill>
              </a:rPr>
              <a:t>Kebijakan harus targeted regional per klaster</a:t>
            </a:r>
          </a:p>
        </p:txBody>
      </p:sp>
      <p:sp>
        <p:nvSpPr>
          <p:cNvPr id="120" name="R2Body"/>
          <p:cNvSpPr txBox="1"/>
          <p:nvPr/>
        </p:nvSpPr>
        <p:spPr>
          <a:xfrm>
            <a:off x="1905000" y="45593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1400" dirty="0">
                <a:solidFill>
                  <a:srgbClr val="1F4E79"/>
                </a:solidFill>
              </a:rPr>
              <a:t>Klaster 1 (Tertinggal): kapabilitas dasar + regional spillover. Klaster 2: penguatan kapasitas. Klaster 3: pertahankan keunggulan.</a:t>
            </a:r>
          </a:p>
        </p:txBody>
      </p:sp>
      <p:sp>
        <p:nvSpPr>
          <p:cNvPr id="121" name="SynBg"/>
          <p:cNvSpPr/>
          <p:nvPr/>
        </p:nvSpPr>
        <p:spPr>
          <a:xfrm>
            <a:off x="731520" y="5270500"/>
            <a:ext cx="11003280" cy="101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SynGold"/>
          <p:cNvSpPr/>
          <p:nvPr/>
        </p:nvSpPr>
        <p:spPr>
          <a:xfrm>
            <a:off x="731520" y="5270500"/>
            <a:ext cx="63500" cy="1016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SynBody"/>
          <p:cNvSpPr txBox="1"/>
          <p:nvPr/>
        </p:nvSpPr>
        <p:spPr>
          <a:xfrm>
            <a:off x="939800" y="536575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FFFFFF"/>
                </a:solidFill>
              </a:rPr>
              <a:t>STATIS + Dynamic Biplot membingkai ulang kesenjangan sebagai fenomena struktural yang stabil lintas waktu —</a:t>
            </a:r>
          </a:p>
          <a:p>
            <a:pPr algn="l">
              <a:buNone/>
            </a:pPr>
            <a:r>
              <a:rPr lang="id-ID" sz="1500" dirty="0">
                <a:solidFill>
                  <a:srgbClr val="FFFFFF"/>
                </a:solidFill>
              </a:rPr>
              <a:t>bukan fluktuasi sementara yang akan mereda dengan sendirinya.</a:t>
            </a:r>
          </a:p>
        </p:txBody>
      </p:sp>
      <p:sp>
        <p:nvSpPr>
          <p:cNvPr id="103" name="PageNum"/>
          <p:cNvSpPr txBox="1"/>
          <p:nvPr/>
        </p:nvSpPr>
        <p:spPr>
          <a:xfrm>
            <a:off x="10541000" y="65405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ctr" anchorCtr="0"/>
          <a:lstStyle/>
          <a:p>
            <a:pPr algn="r">
              <a:buNone/>
            </a:pPr>
            <a:r>
              <a:rPr lang="en-US" sz="1200" dirty="0">
                <a:solidFill>
                  <a:srgbClr val="C8A951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70865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Gold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GoldBot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hanks"/>
          <p:cNvSpPr txBox="1"/>
          <p:nvPr/>
        </p:nvSpPr>
        <p:spPr>
          <a:xfrm>
            <a:off x="762000" y="1651000"/>
            <a:ext cx="10668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104" name="Div"/>
          <p:cNvSpPr/>
          <p:nvPr/>
        </p:nvSpPr>
        <p:spPr>
          <a:xfrm>
            <a:off x="5461000" y="2984500"/>
            <a:ext cx="1270000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QA"/>
          <p:cNvSpPr txBox="1"/>
          <p:nvPr/>
        </p:nvSpPr>
        <p:spPr>
          <a:xfrm>
            <a:off x="762000" y="3238500"/>
            <a:ext cx="10668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2200" dirty="0">
                <a:solidFill>
                  <a:srgbClr val="C8A951"/>
                </a:solidFill>
              </a:rPr>
              <a:t>Terbuka untuk Pertanyaan &amp; Diskusi</a:t>
            </a:r>
          </a:p>
        </p:txBody>
      </p:sp>
      <p:sp>
        <p:nvSpPr>
          <p:cNvPr id="106" name="Author"/>
          <p:cNvSpPr txBox="1"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Ammar Hanafi</a:t>
            </a:r>
          </a:p>
        </p:txBody>
      </p:sp>
      <p:sp>
        <p:nvSpPr>
          <p:cNvPr id="107" name="AuthorSub"/>
          <p:cNvSpPr txBox="1"/>
          <p:nvPr/>
        </p:nvSpPr>
        <p:spPr>
          <a:xfrm>
            <a:off x="762000" y="49784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Departemen Statistika  ·  FMIPA  ·  Universitas Indonesia</a:t>
            </a:r>
          </a:p>
        </p:txBody>
      </p:sp>
      <p:sp>
        <p:nvSpPr>
          <p:cNvPr id="108" name="AuthorDate"/>
          <p:cNvSpPr txBox="1"/>
          <p:nvPr/>
        </p:nvSpPr>
        <p:spPr>
          <a:xfrm>
            <a:off x="762000" y="53086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1400" i="1" dirty="0">
                <a:solidFill>
                  <a:srgbClr val="C8A951"/>
                </a:solidFill>
              </a:rPr>
              <a:t>Sidang Skripsi  ·  Juni 2026</a:t>
            </a:r>
          </a:p>
        </p:txBody>
      </p:sp>
      <p:sp>
        <p:nvSpPr>
          <p:cNvPr id="109" name="PageNum"/>
          <p:cNvSpPr txBox="1"/>
          <p:nvPr/>
        </p:nvSpPr>
        <p:spPr>
          <a:xfrm>
            <a:off x="11049000" y="1778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100" dirty="0">
                <a:solidFill>
                  <a:srgbClr val="C8A951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31209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026907089]">
  <a:themeElements>
    <a:clrScheme name="Office">
      <a:dk1>
        <a:sysClr val="windowText" lastClr="000000"/>
      </a:dk1>
      <a:lt1>
        <a:sysClr val="window" lastClr="FFFFFF"/>
      </a:lt1>
      <a:dk2>
        <a:srgbClr val="003366"/>
      </a:dk2>
      <a:lt2>
        <a:srgbClr val="E7E6E6"/>
      </a:lt2>
      <a:accent1>
        <a:srgbClr val="003366"/>
      </a:accent1>
      <a:accent2>
        <a:srgbClr val="C8A951"/>
      </a:accent2>
      <a:accent3>
        <a:srgbClr val="1F4E79"/>
      </a:accent3>
      <a:accent4>
        <a:srgbClr val="8E6F1F"/>
      </a:accent4>
      <a:accent5>
        <a:srgbClr val="5A7BA8"/>
      </a:accent5>
      <a:accent6>
        <a:srgbClr val="A88E4A"/>
      </a:accent6>
      <a:hlink>
        <a:srgbClr val="0563C1"/>
      </a:hlink>
      <a:folHlink>
        <a:srgbClr val="954F72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3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D526F7-0EBB-4DC2-B6EE-96C8D9E1527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d2bb9fa-b339-4dba-8b42-2ab3fb8b61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26115</TotalTime>
  <Words>1805</Words>
  <Application>Microsoft Office PowerPoint</Application>
  <PresentationFormat>Layar Lebar</PresentationFormat>
  <Paragraphs>296</Paragraphs>
  <Slides>15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 [1780026907089]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Nahid Ahmed</dc:creator>
  <cp:lastModifiedBy>Ammar Hanafi</cp:lastModifiedBy>
  <cp:revision>557</cp:revision>
  <cp:lastPrinted>2020-05-26T12:46:06Z</cp:lastPrinted>
  <dcterms:created xsi:type="dcterms:W3CDTF">2017-10-30T13:02:30Z</dcterms:created>
  <dcterms:modified xsi:type="dcterms:W3CDTF">2026-05-30T23:49:27Z</dcterms:modified>
</cp:coreProperties>
</file>