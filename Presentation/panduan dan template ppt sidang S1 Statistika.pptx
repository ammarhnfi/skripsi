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5" r:id="rId2"/>
    <p:sldId id="2895" r:id="rId3"/>
    <p:sldId id="2896" r:id="rId4"/>
    <p:sldId id="2894" r:id="rId5"/>
    <p:sldId id="2887" r:id="rId6"/>
    <p:sldId id="2888" r:id="rId7"/>
    <p:sldId id="2889" r:id="rId8"/>
    <p:sldId id="2890" r:id="rId9"/>
    <p:sldId id="2891" r:id="rId10"/>
    <p:sldId id="2893" r:id="rId11"/>
    <p:sldId id="262" r:id="rId1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486"/>
    <a:srgbClr val="141498"/>
    <a:srgbClr val="99CCFF"/>
    <a:srgbClr val="9CADDA"/>
    <a:srgbClr val="2366E0"/>
    <a:srgbClr val="8EA2D8"/>
    <a:srgbClr val="FFFFFF"/>
    <a:srgbClr val="90A4D8"/>
    <a:srgbClr val="060BC6"/>
    <a:srgbClr val="9BAC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842" autoAdjust="0"/>
  </p:normalViewPr>
  <p:slideViewPr>
    <p:cSldViewPr snapToGrid="0">
      <p:cViewPr>
        <p:scale>
          <a:sx n="66" d="100"/>
          <a:sy n="66" d="100"/>
        </p:scale>
        <p:origin x="1551" y="741"/>
      </p:cViewPr>
      <p:guideLst/>
    </p:cSldViewPr>
  </p:slideViewPr>
  <p:outlineViewPr>
    <p:cViewPr>
      <p:scale>
        <a:sx n="33" d="100"/>
        <a:sy n="33" d="100"/>
      </p:scale>
      <p:origin x="0" y="-73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027"/>
    </p:cViewPr>
  </p:sorterViewPr>
  <p:notesViewPr>
    <p:cSldViewPr snapToGrid="0">
      <p:cViewPr varScale="1">
        <p:scale>
          <a:sx n="62" d="100"/>
          <a:sy n="62" d="100"/>
        </p:scale>
        <p:origin x="312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7083E71-63E6-4AB9-A749-30D274B275EC}" type="datetimeFigureOut">
              <a:rPr lang="id-ID" smtClean="0"/>
              <a:t>14/02/2026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4461E84-C8C3-40A0-ABE2-2212408EAA7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74864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61E84-C8C3-40A0-ABE2-2212408EAA7B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20488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61E84-C8C3-40A0-ABE2-2212408EAA7B}" type="slidenum">
              <a:rPr lang="id-ID" smtClean="0"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39147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8B03F-EB71-410D-A9C3-2D2AC60C8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7EC6C-FF8E-4AAE-B6E8-226BD551F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A6717-B0C0-44C1-A7AA-8C117B3E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E5E5D-80C9-46B8-B697-9A54A575C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041BB-7A72-43E2-9893-1FF9F369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8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5551-51AF-4DDB-B83F-67EF2048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FF0E7-6F29-41A1-9A79-467FE0B86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19DA6-7E4C-4D81-87A3-3E9AB00D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352FA-B019-45A0-B5B3-429DA0C7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ABD4C-CCFF-4EA8-B0D9-78E1EE44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58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86797-CD77-463D-B20B-E31409F4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3734E-B29A-41DF-966C-F6F9807EC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AC8D4-16DF-418A-B561-315CFB7D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D482F-CD8A-417A-9180-C3CB13EB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8BC6B-2238-4F42-8A20-2BBF6D86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1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E1D6-8F5E-4D5E-8590-DDF4F314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BD5BF-F646-45A0-9D45-839B57ECD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1CB740-2940-49DF-A4ED-1A3FCD551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05D94-BE73-455C-9FC9-0E9D9466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971C2-0268-4127-8441-E825F0BC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998E0-5F09-4DB4-8AF6-93C73343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76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42A6-5CDE-4103-878C-3FD05FDC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B54EB-FD62-4AD1-A7BA-94BF3A00A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7967F-F563-4822-B8C7-F9531DF5B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9A81E-D741-4C20-AF41-834F0764E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E94A0-45ED-473B-A985-354EA7DDF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46A99-4B06-40C6-BC1F-6DCF5051C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49601-28C7-46D3-98E9-C01731F3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11C91-D0F4-43AB-A65B-B3A4A6CC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4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C96D-9259-4193-AA29-9C555513A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99C55-D785-4815-844F-10552A8B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A0546-62B4-4A71-945D-0CDDF00B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1FA51-7F1E-4675-A594-ED6AE654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4601B-CDAA-417C-896A-3EBBF835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1B993-D7C5-4B2F-978A-53C1EAAC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B1606-B9AC-4E4C-BDB5-EFB17BF6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1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716A5-B55C-4E0A-8E80-86F8981F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415D-BD3B-4BF1-8702-ACB73F739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1B6E5-8961-47C3-82F6-84F820986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15EFA-9CDB-407E-A02C-559361022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83BD7-A3AB-4146-B913-49E0021E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EE8AB-4161-4B83-B736-16A17329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2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0B64-16D0-4DD1-B453-AF666554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15406-DEC9-4387-8D9E-76AD25AAB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FE20B-13AB-4D94-A3C2-7925ACFD0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D83F7-4D58-48EE-854B-BBCAA067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9F3C9-528D-4723-9868-C8EC2755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1BBCA-FD3A-4E60-8E98-F1C2B619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91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CB62-DE42-49E8-BA74-67778CC9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D53F0-4002-468C-A76A-D5B2444BF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49F17-23EF-4437-9DAC-2E8D15EF1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3A19B-6D9A-433C-B5EF-B8E2C7921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71ADC-190F-451D-9E92-EC6F2D55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51EC9-B24C-4BC9-82E4-0B3B7C3CE5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198D9-BA81-4EAE-AFB9-D4959FA4F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E91E6-EDA5-4866-AE21-838EE23C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1A2FF-A882-4128-94DB-655A820A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BF748-DD2E-44B3-8F36-441D6726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32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809AC-7EC4-49E0-990C-A6C64F487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B1242-C231-4EEF-BCE9-DA025AF02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5FF5F-AE2C-4B42-B0CC-0596B671F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0115F-65E7-4948-BBBD-A84F05213A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D5724-EF5C-4A01-9DE7-01578DB37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064B1-DC35-4C35-A879-FEE290790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22D72-665D-4DDA-883A-52F28E1F4616}"/>
              </a:ext>
            </a:extLst>
          </p:cNvPr>
          <p:cNvSpPr/>
          <p:nvPr userDrawn="1"/>
        </p:nvSpPr>
        <p:spPr>
          <a:xfrm>
            <a:off x="0" y="6528391"/>
            <a:ext cx="12192000" cy="32960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E762DF-CAEA-44DE-BC57-813773DE4F88}"/>
              </a:ext>
            </a:extLst>
          </p:cNvPr>
          <p:cNvSpPr/>
          <p:nvPr userDrawn="1"/>
        </p:nvSpPr>
        <p:spPr>
          <a:xfrm>
            <a:off x="0" y="0"/>
            <a:ext cx="12192000" cy="329609"/>
          </a:xfrm>
          <a:prstGeom prst="rect">
            <a:avLst/>
          </a:prstGeom>
          <a:solidFill>
            <a:srgbClr val="000099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1101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waterloo.ca/writing-and-communication-centre/citation-styles-and-guides" TargetMode="External"/><Relationship Id="rId7" Type="http://schemas.openxmlformats.org/officeDocument/2006/relationships/hyperlink" Target="https://www.r-project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bps.go.id/" TargetMode="External"/><Relationship Id="rId5" Type="http://schemas.openxmlformats.org/officeDocument/2006/relationships/hyperlink" Target="https://doi.org/10.1080/00031305.2016.1154108" TargetMode="External"/><Relationship Id="rId4" Type="http://schemas.openxmlformats.org/officeDocument/2006/relationships/hyperlink" Target="https://doi.org/10.1111/j.2517-6161.1996.tb02080.x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7;p14">
            <a:extLst>
              <a:ext uri="{FF2B5EF4-FFF2-40B4-BE49-F238E27FC236}">
                <a16:creationId xmlns:a16="http://schemas.microsoft.com/office/drawing/2014/main" id="{4335DB0C-CB37-4E3A-A2BE-1DB5AB0D517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939130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Georgia Pro Cond" panose="020B0604020202020204" pitchFamily="18" charset="0"/>
                <a:ea typeface="Arial"/>
                <a:cs typeface="Arial"/>
                <a:sym typeface="Arial"/>
              </a:rPr>
              <a:t>Judul </a:t>
            </a:r>
            <a:r>
              <a:rPr lang="en-US" sz="3600" b="1" dirty="0" err="1">
                <a:latin typeface="Georgia Pro Cond" panose="020B0604020202020204" pitchFamily="18" charset="0"/>
                <a:ea typeface="Arial"/>
                <a:cs typeface="Arial"/>
                <a:sym typeface="Arial"/>
              </a:rPr>
              <a:t>Skripsi</a:t>
            </a:r>
            <a:r>
              <a:rPr lang="en-US" sz="3600" b="1" dirty="0">
                <a:latin typeface="Georgia Pro Cond" panose="020B0604020202020204" pitchFamily="18" charset="0"/>
                <a:ea typeface="Arial"/>
                <a:cs typeface="Arial"/>
                <a:sym typeface="Arial"/>
              </a:rPr>
              <a:t> (36-44 </a:t>
            </a:r>
            <a:r>
              <a:rPr lang="en-US" sz="3600" b="1" dirty="0" err="1">
                <a:latin typeface="Georgia Pro Cond" panose="020B0604020202020204" pitchFamily="18" charset="0"/>
                <a:ea typeface="Arial"/>
                <a:cs typeface="Arial"/>
                <a:sym typeface="Arial"/>
              </a:rPr>
              <a:t>pt</a:t>
            </a:r>
            <a:r>
              <a:rPr lang="en-US" sz="3600" b="1" dirty="0">
                <a:latin typeface="Georgia Pro Cond" panose="020B0604020202020204" pitchFamily="18" charset="0"/>
                <a:ea typeface="Arial"/>
                <a:cs typeface="Arial"/>
                <a:sym typeface="Arial"/>
              </a:rPr>
              <a:t>)</a:t>
            </a:r>
            <a:endParaRPr dirty="0">
              <a:latin typeface="Georgia Pro Cond" panose="020B0604020202020204" pitchFamily="18" charset="0"/>
            </a:endParaRPr>
          </a:p>
        </p:txBody>
      </p:sp>
      <p:sp>
        <p:nvSpPr>
          <p:cNvPr id="12" name="Google Shape;88;p14">
            <a:extLst>
              <a:ext uri="{FF2B5EF4-FFF2-40B4-BE49-F238E27FC236}">
                <a16:creationId xmlns:a16="http://schemas.microsoft.com/office/drawing/2014/main" id="{37DC4ABD-4C63-4AFA-8206-D2E55B558D4D}"/>
              </a:ext>
            </a:extLst>
          </p:cNvPr>
          <p:cNvSpPr txBox="1"/>
          <p:nvPr/>
        </p:nvSpPr>
        <p:spPr>
          <a:xfrm>
            <a:off x="2178049" y="3319462"/>
            <a:ext cx="7129463" cy="88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9600" b="1" i="0" u="none" strike="noStrike" cap="none" dirty="0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Nama </a:t>
            </a:r>
            <a:r>
              <a:rPr lang="en-US" sz="9600" b="1" dirty="0" err="1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Mahasiswa</a:t>
            </a:r>
            <a:endParaRPr lang="en-US" sz="9600" dirty="0">
              <a:latin typeface="Georgia Pro Cond" panose="02040506050405020303" pitchFamily="18" charset="0"/>
              <a:cs typeface="Helvetica" panose="020B060402020202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000" b="0" i="0" u="none" strike="noStrike" cap="none" dirty="0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NPM	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000" dirty="0">
                <a:solidFill>
                  <a:schemeClr val="dk1"/>
                </a:solidFill>
                <a:latin typeface="Georgia Pro Cond" panose="02040506050405020303" pitchFamily="18" charset="0"/>
                <a:cs typeface="Helvetica" panose="020B0604020202020204" pitchFamily="34" charset="0"/>
                <a:sym typeface="Arial"/>
              </a:rPr>
              <a:t>Hari/</a:t>
            </a:r>
            <a:r>
              <a:rPr lang="en-US" sz="8000" dirty="0" err="1">
                <a:solidFill>
                  <a:schemeClr val="dk1"/>
                </a:solidFill>
                <a:latin typeface="Georgia Pro Cond" panose="02040506050405020303" pitchFamily="18" charset="0"/>
                <a:cs typeface="Helvetica" panose="020B0604020202020204" pitchFamily="34" charset="0"/>
                <a:sym typeface="Arial"/>
              </a:rPr>
              <a:t>tanggal</a:t>
            </a:r>
            <a:endParaRPr lang="en-US" sz="8000" dirty="0">
              <a:latin typeface="Georgia Pro Cond" panose="02040506050405020303" pitchFamily="18" charset="0"/>
              <a:cs typeface="Helvetica" panose="020B0604020202020204" pitchFamily="34" charset="0"/>
            </a:endParaRPr>
          </a:p>
        </p:txBody>
      </p:sp>
      <p:sp>
        <p:nvSpPr>
          <p:cNvPr id="14" name="Google Shape;89;p14">
            <a:extLst>
              <a:ext uri="{FF2B5EF4-FFF2-40B4-BE49-F238E27FC236}">
                <a16:creationId xmlns:a16="http://schemas.microsoft.com/office/drawing/2014/main" id="{4256E55D-23BC-44C6-874B-38EB297F50FB}"/>
              </a:ext>
            </a:extLst>
          </p:cNvPr>
          <p:cNvSpPr txBox="1"/>
          <p:nvPr/>
        </p:nvSpPr>
        <p:spPr>
          <a:xfrm>
            <a:off x="1168400" y="5033963"/>
            <a:ext cx="4733925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Pembimbing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 1: </a:t>
            </a:r>
            <a:endParaRPr sz="2000" dirty="0">
              <a:latin typeface="Georgia Pro Cond" panose="02040506050405020303" pitchFamily="18" charset="0"/>
              <a:cs typeface="Helvetica" panose="020B060402020202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Pembimbing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 2:</a:t>
            </a:r>
            <a:endParaRPr sz="2000" dirty="0">
              <a:latin typeface="Georgia Pro Cond" panose="02040506050405020303" pitchFamily="18" charset="0"/>
              <a:cs typeface="Helvetica" panose="020B060402020202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Georgia Pro Cond" panose="02040506050405020303" pitchFamily="18" charset="0"/>
              <a:ea typeface="Arial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15" name="Google Shape;96;p14">
            <a:extLst>
              <a:ext uri="{FF2B5EF4-FFF2-40B4-BE49-F238E27FC236}">
                <a16:creationId xmlns:a16="http://schemas.microsoft.com/office/drawing/2014/main" id="{777DDD79-AF86-44C9-A3BD-7EF053718086}"/>
              </a:ext>
            </a:extLst>
          </p:cNvPr>
          <p:cNvSpPr txBox="1"/>
          <p:nvPr/>
        </p:nvSpPr>
        <p:spPr>
          <a:xfrm>
            <a:off x="6940550" y="5029200"/>
            <a:ext cx="4733925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000" dirty="0" err="1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Penguji</a:t>
            </a:r>
            <a:r>
              <a:rPr lang="en-US" sz="2000" dirty="0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 1:</a:t>
            </a:r>
            <a:endParaRPr sz="2000" dirty="0">
              <a:latin typeface="Georgia Pro Cond" panose="02040506050405020303" pitchFamily="18" charset="0"/>
              <a:cs typeface="Helvetica" panose="020B060402020202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000" dirty="0" err="1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Penguji</a:t>
            </a:r>
            <a:r>
              <a:rPr lang="en-US" sz="2000" dirty="0">
                <a:solidFill>
                  <a:schemeClr val="dk1"/>
                </a:solidFill>
                <a:latin typeface="Georgia Pro Cond" panose="02040506050405020303" pitchFamily="18" charset="0"/>
                <a:ea typeface="Arial"/>
                <a:cs typeface="Helvetica" panose="020B0604020202020204" pitchFamily="34" charset="0"/>
                <a:sym typeface="Arial"/>
              </a:rPr>
              <a:t> 2:</a:t>
            </a:r>
            <a:endParaRPr sz="2000" dirty="0">
              <a:latin typeface="Georgia Pro Cond" panose="02040506050405020303" pitchFamily="18" charset="0"/>
              <a:cs typeface="Helvetica" panose="020B060402020202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dirty="0">
              <a:solidFill>
                <a:schemeClr val="dk1"/>
              </a:solidFill>
              <a:latin typeface="Georgia Pro Cond" panose="02040506050405020303" pitchFamily="18" charset="0"/>
              <a:ea typeface="Arial"/>
              <a:cs typeface="Helvetica" panose="020B0604020202020204" pitchFamily="34" charset="0"/>
              <a:sym typeface="Arial"/>
            </a:endParaRPr>
          </a:p>
        </p:txBody>
      </p:sp>
      <p:pic>
        <p:nvPicPr>
          <p:cNvPr id="9" name="Picture 8" descr="A yellow sign with black text&#10;&#10;AI-generated content may be incorrect.">
            <a:extLst>
              <a:ext uri="{FF2B5EF4-FFF2-40B4-BE49-F238E27FC236}">
                <a16:creationId xmlns:a16="http://schemas.microsoft.com/office/drawing/2014/main" id="{3CC24288-7F75-408F-BD4F-189961E58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701"/>
            <a:ext cx="1095375" cy="180856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D9FD957-A05F-4F5A-A083-400070B67F28}"/>
              </a:ext>
            </a:extLst>
          </p:cNvPr>
          <p:cNvSpPr/>
          <p:nvPr/>
        </p:nvSpPr>
        <p:spPr>
          <a:xfrm>
            <a:off x="0" y="5998256"/>
            <a:ext cx="12192000" cy="8254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n-NO" sz="18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nn-NO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nn-NO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 Studi S1 Statistika, Departemen Matematika</a:t>
            </a:r>
          </a:p>
          <a:p>
            <a:pPr algn="ctr"/>
            <a:r>
              <a:rPr lang="en-US" sz="1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Fakultas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Matematika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US" sz="1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Ilmu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Pengetahuan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Alam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(FMIPA) - Universitas Indonesia</a:t>
            </a:r>
          </a:p>
          <a:p>
            <a:pPr algn="ctr"/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Gedung D, </a:t>
            </a:r>
            <a:r>
              <a:rPr lang="en-US" sz="12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Kampus</a:t>
            </a: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UI, Depok 16424, Telp. +62-21-7862719, Fax. +62-21-7863439, Email. stats@sci.ui.ac.id</a:t>
            </a:r>
            <a:endParaRPr lang="en-US" dirty="0"/>
          </a:p>
          <a:p>
            <a:pPr algn="ctr"/>
            <a:endParaRPr lang="nn-NO" dirty="0"/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8008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0" advTm="23545"/>
    </mc:Choice>
    <mc:Fallback xmlns="">
      <p:transition spd="slow" advTm="23545"/>
    </mc:Fallback>
  </mc:AlternateContent>
  <p:extLst>
    <p:ext uri="{E180D4A7-C9FB-4DFB-919C-405C955672EB}">
      <p14:showEvtLst xmlns:p14="http://schemas.microsoft.com/office/powerpoint/2010/main">
        <p14:playEvt time="230" objId="13"/>
        <p14:stopEvt time="20270" objId="13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653C2-4E5C-474B-9256-C092249F9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5" y="340318"/>
            <a:ext cx="1285875" cy="51672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D1980A7-5093-4378-8F31-F07CA248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3400" b="0" i="0" dirty="0">
                <a:effectLst/>
                <a:latin typeface="Georgia Pro Cond" panose="02040506050405020303" pitchFamily="18" charset="0"/>
              </a:rPr>
              <a:t>Panduan </a:t>
            </a:r>
            <a:r>
              <a:rPr lang="en-ID" sz="3400" b="0" i="0" dirty="0" err="1">
                <a:effectLst/>
                <a:latin typeface="Georgia Pro Cond" panose="02040506050405020303" pitchFamily="18" charset="0"/>
              </a:rPr>
              <a:t>Umum</a:t>
            </a:r>
            <a:r>
              <a:rPr lang="en-ID" sz="3400" b="0" i="0" dirty="0">
                <a:effectLst/>
                <a:latin typeface="Georgia Pro Cond" panose="02040506050405020303" pitchFamily="18" charset="0"/>
              </a:rPr>
              <a:t>:</a:t>
            </a:r>
            <a:r>
              <a:rPr lang="en-ID" sz="2800" b="0" i="0" dirty="0">
                <a:effectLst/>
                <a:latin typeface="Georgia Pro Cond" panose="02040506050405020303" pitchFamily="18" charset="0"/>
              </a:rPr>
              <a:t> </a:t>
            </a:r>
            <a:r>
              <a:rPr lang="en-ID" sz="2000" b="0" i="0" dirty="0">
                <a:effectLst/>
                <a:latin typeface="Georgia Pro Cond" panose="02040506050405020303" pitchFamily="18" charset="0"/>
              </a:rPr>
              <a:t>judul slide </a:t>
            </a:r>
            <a:endParaRPr lang="en-AU" sz="2000" dirty="0">
              <a:latin typeface="Georgia Pro Cond" panose="020405060504050203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B4429-7513-4981-A3FF-E30D50893B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</a:rPr>
              <a:t>Prinsip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</a:rPr>
              <a:t>Umum</a:t>
            </a:r>
            <a:endParaRPr lang="en-US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 algn="just">
              <a:buNone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Harus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terlihat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jelas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dari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jarak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3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s.d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5 meter</a:t>
            </a:r>
          </a:p>
          <a:p>
            <a:pPr algn="just"/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Judul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lebih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besar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dari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isi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Konsisten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di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semua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slide. </a:t>
            </a:r>
            <a:endParaRPr lang="en-ID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A74359-3B3B-409E-B840-6B86839D79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</a:rPr>
              <a:t>Rekomendasi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 Format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</a:rPr>
              <a:t>Akademik</a:t>
            </a:r>
            <a:endParaRPr lang="en-US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dirty="0"/>
          </a:p>
          <a:p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Font size</a:t>
            </a:r>
          </a:p>
          <a:p>
            <a:pPr lvl="1"/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32 – 36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pt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standar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ideal); </a:t>
            </a:r>
          </a:p>
          <a:p>
            <a:pPr lvl="1"/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28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pt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(minimum,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jika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judul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panjang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),  </a:t>
            </a:r>
          </a:p>
          <a:p>
            <a:pPr lvl="1"/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40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pt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jika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ingin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lebih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tegas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dan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ruang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slide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luas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  <a:p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Font types: </a:t>
            </a:r>
          </a:p>
          <a:p>
            <a:pPr lvl="1"/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Serif (formal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klasik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): Times New Roman, Cambria</a:t>
            </a:r>
          </a:p>
          <a:p>
            <a:pPr lvl="1"/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Sans-serif (modern professional): Calibri, Arial</a:t>
            </a:r>
            <a:endParaRPr lang="en-ID" sz="1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</a:rPr>
              <a:t>Style: Bold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, left alignment,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warna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hitam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atau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navy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gelap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pada background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terang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n-ID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Slide Number Placeholder 25">
            <a:extLst>
              <a:ext uri="{FF2B5EF4-FFF2-40B4-BE49-F238E27FC236}">
                <a16:creationId xmlns:a16="http://schemas.microsoft.com/office/drawing/2014/main" id="{F73D7778-CF1D-481F-8D1B-E88A8CA9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7" y="6492875"/>
            <a:ext cx="2743200" cy="365125"/>
          </a:xfrm>
        </p:spPr>
        <p:txBody>
          <a:bodyPr/>
          <a:lstStyle/>
          <a:p>
            <a:fld id="{1F6B1E3E-D31D-4883-9C85-6F8F20CA2901}" type="slidenum">
              <a:rPr lang="en-US" sz="1400" b="1" smtClean="0">
                <a:solidFill>
                  <a:schemeClr val="bg1"/>
                </a:solidFill>
              </a:rPr>
              <a:t>2</a:t>
            </a:fld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19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15799"/>
    </mc:Choice>
    <mc:Fallback>
      <p:transition spd="slow" advTm="1579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653C2-4E5C-474B-9256-C092249F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5" y="340318"/>
            <a:ext cx="1285875" cy="51672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D1980A7-5093-4378-8F31-F07CA248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3400" b="0" i="0" dirty="0">
                <a:effectLst/>
                <a:latin typeface="Georgia Pro Cond" panose="02040506050405020303" pitchFamily="18" charset="0"/>
              </a:rPr>
              <a:t>Panduan </a:t>
            </a:r>
            <a:r>
              <a:rPr lang="en-ID" sz="3400" b="0" i="0" dirty="0" err="1">
                <a:effectLst/>
                <a:latin typeface="Georgia Pro Cond" panose="02040506050405020303" pitchFamily="18" charset="0"/>
              </a:rPr>
              <a:t>Umum</a:t>
            </a:r>
            <a:r>
              <a:rPr lang="en-ID" sz="3400" b="0" i="0" dirty="0">
                <a:effectLst/>
                <a:latin typeface="Georgia Pro Cond" panose="02040506050405020303" pitchFamily="18" charset="0"/>
              </a:rPr>
              <a:t>:</a:t>
            </a:r>
            <a:r>
              <a:rPr lang="en-ID" sz="2800" b="0" i="0" dirty="0">
                <a:effectLst/>
                <a:latin typeface="Georgia Pro Cond" panose="02040506050405020303" pitchFamily="18" charset="0"/>
              </a:rPr>
              <a:t> </a:t>
            </a:r>
            <a:r>
              <a:rPr lang="en-ID" sz="2000" b="0" i="0" dirty="0" err="1">
                <a:effectLst/>
                <a:latin typeface="Georgia Pro Cond" panose="02040506050405020303" pitchFamily="18" charset="0"/>
              </a:rPr>
              <a:t>lanjutan</a:t>
            </a:r>
            <a:r>
              <a:rPr lang="en-ID" sz="2000" b="0" i="0" dirty="0">
                <a:effectLst/>
                <a:latin typeface="Georgia Pro Cond" panose="02040506050405020303" pitchFamily="18" charset="0"/>
              </a:rPr>
              <a:t> </a:t>
            </a:r>
            <a:endParaRPr lang="en-AU" sz="2000" dirty="0">
              <a:latin typeface="Georgia Pro Cond" panose="02040506050405020303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A0A4497-3483-43E9-BCD4-86CB1338FC9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1766033"/>
              </p:ext>
            </p:extLst>
          </p:nvPr>
        </p:nvGraphicFramePr>
        <p:xfrm>
          <a:off x="960747" y="1791092"/>
          <a:ext cx="6109356" cy="3868015"/>
        </p:xfrm>
        <a:graphic>
          <a:graphicData uri="http://schemas.openxmlformats.org/drawingml/2006/table">
            <a:tbl>
              <a:tblPr/>
              <a:tblGrid>
                <a:gridCol w="3054678">
                  <a:extLst>
                    <a:ext uri="{9D8B030D-6E8A-4147-A177-3AD203B41FA5}">
                      <a16:colId xmlns:a16="http://schemas.microsoft.com/office/drawing/2014/main" val="2910448154"/>
                    </a:ext>
                  </a:extLst>
                </a:gridCol>
                <a:gridCol w="3054678">
                  <a:extLst>
                    <a:ext uri="{9D8B030D-6E8A-4147-A177-3AD203B41FA5}">
                      <a16:colId xmlns:a16="http://schemas.microsoft.com/office/drawing/2014/main" val="3385341914"/>
                    </a:ext>
                  </a:extLst>
                </a:gridCol>
              </a:tblGrid>
              <a:tr h="6943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b="1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Elemen</a:t>
                      </a:r>
                      <a:endParaRPr lang="en-ID" sz="2200" b="1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44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b="1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Ukuran</a:t>
                      </a:r>
                      <a:r>
                        <a:rPr lang="en-ID" sz="22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Ideal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44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7341"/>
                  </a:ext>
                </a:extLst>
              </a:tr>
              <a:tr h="6347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Judul Slide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32–36 </a:t>
                      </a:r>
                      <a:r>
                        <a:rPr lang="en-ID" sz="2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pt</a:t>
                      </a:r>
                      <a:endParaRPr lang="en-ID" sz="2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28221"/>
                  </a:ext>
                </a:extLst>
              </a:tr>
              <a:tr h="6347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Isi Bullet Level 1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22–24 </a:t>
                      </a:r>
                      <a:r>
                        <a:rPr lang="en-ID" sz="2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pt</a:t>
                      </a:r>
                      <a:endParaRPr lang="en-ID" sz="2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521068"/>
                  </a:ext>
                </a:extLst>
              </a:tr>
              <a:tr h="6347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Sub-bullet (Level 2)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20–22 </a:t>
                      </a:r>
                      <a:r>
                        <a:rPr lang="en-ID" sz="2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pt</a:t>
                      </a:r>
                      <a:endParaRPr lang="en-ID" sz="2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223566"/>
                  </a:ext>
                </a:extLst>
              </a:tr>
              <a:tr h="6347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Keterangan</a:t>
                      </a:r>
                      <a:r>
                        <a:rPr lang="en-ID" sz="2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ID" sz="2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gambar</a:t>
                      </a:r>
                      <a:endParaRPr lang="en-ID" sz="2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16–18 </a:t>
                      </a:r>
                      <a:r>
                        <a:rPr lang="en-ID" sz="2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pt</a:t>
                      </a:r>
                      <a:endParaRPr lang="en-ID" sz="2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107177"/>
                  </a:ext>
                </a:extLst>
              </a:tr>
              <a:tr h="6347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Nomor</a:t>
                      </a:r>
                      <a:r>
                        <a:rPr lang="en-ID" sz="2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slide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2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12–14 </a:t>
                      </a:r>
                      <a:r>
                        <a:rPr lang="en-ID" sz="2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pt</a:t>
                      </a:r>
                      <a:endParaRPr lang="en-ID" sz="2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53747"/>
                  </a:ext>
                </a:extLst>
              </a:tr>
            </a:tbl>
          </a:graphicData>
        </a:graphic>
      </p:graphicFrame>
      <p:sp>
        <p:nvSpPr>
          <p:cNvPr id="13" name="Slide Number Placeholder 25">
            <a:extLst>
              <a:ext uri="{FF2B5EF4-FFF2-40B4-BE49-F238E27FC236}">
                <a16:creationId xmlns:a16="http://schemas.microsoft.com/office/drawing/2014/main" id="{7A672499-5DB0-48CD-9BED-5878DB71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7" y="6492875"/>
            <a:ext cx="2743200" cy="365125"/>
          </a:xfrm>
        </p:spPr>
        <p:txBody>
          <a:bodyPr/>
          <a:lstStyle/>
          <a:p>
            <a:fld id="{1F6B1E3E-D31D-4883-9C85-6F8F20CA2901}" type="slidenum">
              <a:rPr lang="en-US" sz="1400" b="1" smtClean="0">
                <a:solidFill>
                  <a:schemeClr val="bg1"/>
                </a:solidFill>
              </a:rPr>
              <a:t>3</a:t>
            </a:fld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811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15799"/>
    </mc:Choice>
    <mc:Fallback>
      <p:transition spd="slow" advTm="1579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653C2-4E5C-474B-9256-C092249F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5" y="340318"/>
            <a:ext cx="1285875" cy="51672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D1980A7-5093-4378-8F31-F07CA248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3400" b="0" i="0" dirty="0">
                <a:effectLst/>
                <a:latin typeface="Georgia Pro Cond" panose="02040506050405020303" pitchFamily="18" charset="0"/>
              </a:rPr>
              <a:t>Outline </a:t>
            </a:r>
            <a:endParaRPr lang="en-AU" sz="3400" dirty="0">
              <a:latin typeface="Georgia Pro Cond" panose="020405060504050203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B4429-7513-4981-A3FF-E30D50893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Pada slide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ini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sajikan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gambaran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yang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jelas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mengenai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struktur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presentasi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mencakup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bagian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pendahuluan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metode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penelitian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hasil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penelitian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pembahasan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kesimpulan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Pastikan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alur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presentasi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sistemati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dan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logis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r>
              <a:rPr lang="en-US" sz="2200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en-ID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Slide Number Placeholder 25">
            <a:extLst>
              <a:ext uri="{FF2B5EF4-FFF2-40B4-BE49-F238E27FC236}">
                <a16:creationId xmlns:a16="http://schemas.microsoft.com/office/drawing/2014/main" id="{D70C7911-3CEF-4A43-BE86-F36FBE8E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7" y="6492875"/>
            <a:ext cx="2743200" cy="365125"/>
          </a:xfrm>
        </p:spPr>
        <p:txBody>
          <a:bodyPr/>
          <a:lstStyle/>
          <a:p>
            <a:fld id="{1F6B1E3E-D31D-4883-9C85-6F8F20CA2901}" type="slidenum">
              <a:rPr lang="en-US" sz="1400" b="1" smtClean="0">
                <a:solidFill>
                  <a:schemeClr val="bg1"/>
                </a:solidFill>
              </a:rPr>
              <a:t>4</a:t>
            </a:fld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715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15799"/>
    </mc:Choice>
    <mc:Fallback>
      <p:transition spd="slow" advTm="1579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653C2-4E5C-474B-9256-C092249F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5" y="340318"/>
            <a:ext cx="1285875" cy="51672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D1980A7-5093-4378-8F31-F07CA248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3400" b="0" i="0" dirty="0" err="1">
                <a:effectLst/>
                <a:latin typeface="Georgia Pro Cond" panose="02040506050405020303" pitchFamily="18" charset="0"/>
              </a:rPr>
              <a:t>Pedoman</a:t>
            </a:r>
            <a:r>
              <a:rPr lang="en-ID" sz="3400" b="0" i="0" dirty="0">
                <a:effectLst/>
                <a:latin typeface="Georgia Pro Cond" panose="02040506050405020303" pitchFamily="18" charset="0"/>
              </a:rPr>
              <a:t> </a:t>
            </a:r>
            <a:r>
              <a:rPr lang="en-ID" sz="3400" b="0" i="0" dirty="0" err="1">
                <a:effectLst/>
                <a:latin typeface="Georgia Pro Cond" panose="02040506050405020303" pitchFamily="18" charset="0"/>
              </a:rPr>
              <a:t>Tipografi</a:t>
            </a:r>
            <a:r>
              <a:rPr lang="en-ID" sz="3400" b="0" i="0" dirty="0">
                <a:effectLst/>
                <a:latin typeface="Georgia Pro Cond" panose="02040506050405020303" pitchFamily="18" charset="0"/>
              </a:rPr>
              <a:t> dan </a:t>
            </a:r>
            <a:r>
              <a:rPr lang="en-ID" sz="3400" b="0" i="0" dirty="0" err="1">
                <a:effectLst/>
                <a:latin typeface="Georgia Pro Cond" panose="02040506050405020303" pitchFamily="18" charset="0"/>
              </a:rPr>
              <a:t>Warna</a:t>
            </a:r>
            <a:endParaRPr lang="en-AU" sz="3400" dirty="0">
              <a:latin typeface="Georgia Pro Cond" panose="020405060504050203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B4429-7513-4981-A3FF-E30D50893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Pilih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font yang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membuat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presentasi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terlihat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professional,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misal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serif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untuk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judul dan font sans-serif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untuk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isi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teks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. </a:t>
            </a:r>
          </a:p>
          <a:p>
            <a:pPr algn="just"/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Pertahankan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warna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teks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yang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gelap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pada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latar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belakang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terang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untuk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meningkatkan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keterbacaan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serta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memastikan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desain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visual yang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bersih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dan </a:t>
            </a:r>
            <a:r>
              <a:rPr lang="en-ID" sz="2200" dirty="0" err="1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rapi</a:t>
            </a:r>
            <a:r>
              <a:rPr lang="en-ID" sz="2200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.</a:t>
            </a:r>
            <a:r>
              <a:rPr lang="en-US" sz="220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 </a:t>
            </a:r>
            <a:endParaRPr lang="en-ID" sz="2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endParaRPr>
          </a:p>
        </p:txBody>
      </p:sp>
      <p:sp>
        <p:nvSpPr>
          <p:cNvPr id="12" name="Slide Number Placeholder 25">
            <a:extLst>
              <a:ext uri="{FF2B5EF4-FFF2-40B4-BE49-F238E27FC236}">
                <a16:creationId xmlns:a16="http://schemas.microsoft.com/office/drawing/2014/main" id="{09F5A5DB-CCC5-45BF-932C-1AE8C7B2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7" y="6492875"/>
            <a:ext cx="2743200" cy="365125"/>
          </a:xfrm>
        </p:spPr>
        <p:txBody>
          <a:bodyPr/>
          <a:lstStyle/>
          <a:p>
            <a:fld id="{1F6B1E3E-D31D-4883-9C85-6F8F20CA2901}" type="slidenum">
              <a:rPr lang="en-US" sz="1400" b="1" smtClean="0">
                <a:solidFill>
                  <a:schemeClr val="bg1"/>
                </a:solidFill>
              </a:rPr>
              <a:t>5</a:t>
            </a:fld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127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15799"/>
    </mc:Choice>
    <mc:Fallback>
      <p:transition spd="slow" advTm="1579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653C2-4E5C-474B-9256-C092249F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5" y="340318"/>
            <a:ext cx="1285875" cy="51672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D1980A7-5093-4378-8F31-F07CA248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3400" b="0" i="0" dirty="0" err="1">
                <a:effectLst/>
                <a:latin typeface="Georgia Pro Cond" panose="02040506050405020303" pitchFamily="18" charset="0"/>
              </a:rPr>
              <a:t>Metode</a:t>
            </a:r>
            <a:r>
              <a:rPr lang="en-ID" sz="3400" b="0" i="0" dirty="0">
                <a:effectLst/>
                <a:latin typeface="Georgia Pro Cond" panose="02040506050405020303" pitchFamily="18" charset="0"/>
              </a:rPr>
              <a:t> </a:t>
            </a:r>
            <a:r>
              <a:rPr lang="en-ID" sz="3400" b="0" i="0" dirty="0" err="1">
                <a:effectLst/>
                <a:latin typeface="Georgia Pro Cond" panose="02040506050405020303" pitchFamily="18" charset="0"/>
              </a:rPr>
              <a:t>Penelitian</a:t>
            </a:r>
            <a:endParaRPr lang="en-AU" sz="3400" dirty="0">
              <a:latin typeface="Georgia Pro Cond" panose="020405060504050203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B4429-7513-4981-A3FF-E30D50893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Jelaskan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metode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yang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digunakan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dalam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penelitian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dengan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cakupan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meliputi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namun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tidak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terbatas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pada):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pemodelan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statistika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teknik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pengumpulan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data,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pengolahan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data,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analisis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data,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maupun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hal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lain yang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relevan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dengan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tugas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akhir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Anda. </a:t>
            </a:r>
            <a:endParaRPr lang="en-ID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Slide Number Placeholder 25">
            <a:extLst>
              <a:ext uri="{FF2B5EF4-FFF2-40B4-BE49-F238E27FC236}">
                <a16:creationId xmlns:a16="http://schemas.microsoft.com/office/drawing/2014/main" id="{7137115A-1620-46FD-BB5D-0D2F7BE5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7" y="6492875"/>
            <a:ext cx="2743200" cy="365125"/>
          </a:xfrm>
        </p:spPr>
        <p:txBody>
          <a:bodyPr/>
          <a:lstStyle/>
          <a:p>
            <a:fld id="{1F6B1E3E-D31D-4883-9C85-6F8F20CA2901}" type="slidenum">
              <a:rPr lang="en-US" sz="1400" b="1" smtClean="0">
                <a:solidFill>
                  <a:schemeClr val="bg1"/>
                </a:solidFill>
              </a:rPr>
              <a:t>6</a:t>
            </a:fld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336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15799"/>
    </mc:Choice>
    <mc:Fallback>
      <p:transition spd="slow" advTm="1579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653C2-4E5C-474B-9256-C092249F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5" y="340318"/>
            <a:ext cx="1285875" cy="51672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D1980A7-5093-4378-8F31-F07CA248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400" dirty="0">
                <a:latin typeface="Georgia Pro Cond" panose="02040506050405020303" pitchFamily="18" charset="0"/>
              </a:rPr>
              <a:t>P</a:t>
            </a:r>
            <a:r>
              <a:rPr lang="en-ID" sz="3400" dirty="0" err="1">
                <a:latin typeface="Georgia Pro Cond" panose="02040506050405020303" pitchFamily="18" charset="0"/>
              </a:rPr>
              <a:t>engaturan</a:t>
            </a:r>
            <a:r>
              <a:rPr lang="en-ID" sz="3400" dirty="0">
                <a:latin typeface="Georgia Pro Cond" panose="02040506050405020303" pitchFamily="18" charset="0"/>
              </a:rPr>
              <a:t> Layout </a:t>
            </a:r>
            <a:endParaRPr lang="en-AU" sz="3400" dirty="0">
              <a:latin typeface="Georgia Pro Cond" panose="020405060504050203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B4429-7513-4981-A3FF-E30D50893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7448" y="2005012"/>
            <a:ext cx="5181600" cy="4351338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Utamakan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kejelasan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struktur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presentasi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supaya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mudah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dipahami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Misal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gunakan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1" i="1" dirty="0">
                <a:latin typeface="Roboto" panose="02000000000000000000" pitchFamily="2" charset="0"/>
                <a:ea typeface="Roboto" panose="02000000000000000000" pitchFamily="2" charset="0"/>
              </a:rPr>
              <a:t>bulleted key points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pada 1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sisi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,  dan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penjelasan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singkat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pada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sisi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lain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untuk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memfasilitasi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pemahaman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dan </a:t>
            </a:r>
            <a:r>
              <a:rPr lang="en-US" sz="2200" i="1" dirty="0">
                <a:latin typeface="Roboto" panose="02000000000000000000" pitchFamily="2" charset="0"/>
                <a:ea typeface="Roboto" panose="02000000000000000000" pitchFamily="2" charset="0"/>
              </a:rPr>
              <a:t>engagement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dengan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poin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pembahasan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n-ID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B1C5A0-4F92-4F30-B714-9A553CEC19D1}"/>
              </a:ext>
            </a:extLst>
          </p:cNvPr>
          <p:cNvSpPr/>
          <p:nvPr/>
        </p:nvSpPr>
        <p:spPr>
          <a:xfrm>
            <a:off x="6019800" y="1345018"/>
            <a:ext cx="204281" cy="51459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821465-0688-4F2C-AB9F-64C687726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833" y="1929197"/>
            <a:ext cx="5523411" cy="2999605"/>
          </a:xfrm>
          <a:prstGeom prst="rect">
            <a:avLst/>
          </a:prstGeom>
        </p:spPr>
      </p:pic>
      <p:sp>
        <p:nvSpPr>
          <p:cNvPr id="13" name="Slide Number Placeholder 25">
            <a:extLst>
              <a:ext uri="{FF2B5EF4-FFF2-40B4-BE49-F238E27FC236}">
                <a16:creationId xmlns:a16="http://schemas.microsoft.com/office/drawing/2014/main" id="{9DB64B17-F449-4348-ACE0-E3332414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7" y="6492875"/>
            <a:ext cx="2743200" cy="365125"/>
          </a:xfrm>
        </p:spPr>
        <p:txBody>
          <a:bodyPr/>
          <a:lstStyle/>
          <a:p>
            <a:fld id="{1F6B1E3E-D31D-4883-9C85-6F8F20CA2901}" type="slidenum">
              <a:rPr lang="en-US" sz="1400" b="1" smtClean="0">
                <a:solidFill>
                  <a:schemeClr val="bg1"/>
                </a:solidFill>
              </a:rPr>
              <a:t>7</a:t>
            </a:fld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077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15799"/>
    </mc:Choice>
    <mc:Fallback>
      <p:transition spd="slow" advTm="1579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653C2-4E5C-474B-9256-C092249F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5" y="340318"/>
            <a:ext cx="1285875" cy="51672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D1980A7-5093-4378-8F31-F07CA248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400" dirty="0" err="1">
                <a:latin typeface="Georgia Pro Cond" panose="02040506050405020303" pitchFamily="18" charset="0"/>
              </a:rPr>
              <a:t>Penyajian</a:t>
            </a:r>
            <a:r>
              <a:rPr lang="en-US" sz="3400" dirty="0">
                <a:latin typeface="Georgia Pro Cond" panose="02040506050405020303" pitchFamily="18" charset="0"/>
              </a:rPr>
              <a:t> </a:t>
            </a:r>
            <a:r>
              <a:rPr lang="en-US" sz="3400" dirty="0" err="1">
                <a:latin typeface="Georgia Pro Cond" panose="02040506050405020303" pitchFamily="18" charset="0"/>
              </a:rPr>
              <a:t>Tabel</a:t>
            </a:r>
            <a:endParaRPr lang="en-AU" sz="3400" dirty="0">
              <a:latin typeface="Georgia Pro Cond" panose="020405060504050203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B4429-7513-4981-A3FF-E30D50893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95750" cy="120808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Header yang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</a:rPr>
              <a:t>jelas</a:t>
            </a:r>
            <a:endParaRPr lang="en-US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penamaan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tiap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kolom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pastikan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isi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table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mudah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terbaca</a:t>
            </a:r>
            <a:endParaRPr lang="en-ID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A74359-3B3B-409E-B840-6B86839D7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237706"/>
            <a:ext cx="3805236" cy="24677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Simpel</a:t>
            </a:r>
            <a:r>
              <a:rPr lang="en-US" b="1" dirty="0"/>
              <a:t> Layout</a:t>
            </a:r>
            <a:endParaRPr lang="en-US" dirty="0"/>
          </a:p>
          <a:p>
            <a:r>
              <a:rPr lang="en-US" sz="2200" dirty="0" err="1"/>
              <a:t>Gunakan</a:t>
            </a:r>
            <a:r>
              <a:rPr lang="en-US" sz="2200" dirty="0"/>
              <a:t> layout </a:t>
            </a:r>
            <a:r>
              <a:rPr lang="en-US" sz="2200" dirty="0" err="1"/>
              <a:t>sederhana</a:t>
            </a:r>
            <a:endParaRPr lang="en-US" sz="2200" dirty="0"/>
          </a:p>
          <a:p>
            <a:r>
              <a:rPr lang="en-US" sz="2200" dirty="0" err="1"/>
              <a:t>Disarankan</a:t>
            </a:r>
            <a:r>
              <a:rPr lang="en-US" sz="2200" dirty="0"/>
              <a:t> </a:t>
            </a:r>
            <a:r>
              <a:rPr lang="en-US" sz="2200" dirty="0" err="1"/>
              <a:t>pewarnaan</a:t>
            </a:r>
            <a:r>
              <a:rPr lang="en-US" sz="2200" dirty="0"/>
              <a:t> </a:t>
            </a:r>
            <a:r>
              <a:rPr lang="en-US" sz="2200" dirty="0" err="1"/>
              <a:t>selang</a:t>
            </a:r>
            <a:r>
              <a:rPr lang="en-US" sz="2200" dirty="0"/>
              <a:t> </a:t>
            </a:r>
            <a:r>
              <a:rPr lang="en-US" sz="2200" dirty="0" err="1"/>
              <a:t>seling</a:t>
            </a:r>
            <a:r>
              <a:rPr lang="en-US" sz="2200" dirty="0"/>
              <a:t> </a:t>
            </a:r>
            <a:r>
              <a:rPr lang="en-US" sz="2200" dirty="0" err="1"/>
              <a:t>antar</a:t>
            </a:r>
            <a:r>
              <a:rPr lang="en-US" sz="2200" dirty="0"/>
              <a:t> baris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memudahkan</a:t>
            </a:r>
            <a:r>
              <a:rPr lang="en-US" sz="2200" dirty="0"/>
              <a:t> </a:t>
            </a:r>
            <a:r>
              <a:rPr lang="en-US" sz="2200" dirty="0" err="1"/>
              <a:t>keterbacaan</a:t>
            </a:r>
            <a:r>
              <a:rPr lang="en-US" sz="2200" dirty="0"/>
              <a:t> </a:t>
            </a:r>
            <a:r>
              <a:rPr lang="en-US" sz="2200" dirty="0" err="1"/>
              <a:t>isi</a:t>
            </a:r>
            <a:r>
              <a:rPr lang="en-US" sz="2200" dirty="0"/>
              <a:t> table. </a:t>
            </a:r>
          </a:p>
          <a:p>
            <a:r>
              <a:rPr lang="en-US" sz="2200" dirty="0" err="1"/>
              <a:t>Hindari</a:t>
            </a:r>
            <a:r>
              <a:rPr lang="en-US" sz="2200" dirty="0"/>
              <a:t> </a:t>
            </a:r>
            <a:r>
              <a:rPr lang="en-US" sz="2200" dirty="0" err="1"/>
              <a:t>penyajian</a:t>
            </a:r>
            <a:r>
              <a:rPr lang="en-US" sz="2200" dirty="0"/>
              <a:t> </a:t>
            </a:r>
            <a:r>
              <a:rPr lang="en-US" sz="2200" dirty="0" err="1"/>
              <a:t>terlalu</a:t>
            </a:r>
            <a:r>
              <a:rPr lang="en-US" sz="2200" dirty="0"/>
              <a:t> </a:t>
            </a:r>
            <a:r>
              <a:rPr lang="en-US" sz="2200" dirty="0" err="1"/>
              <a:t>banyak</a:t>
            </a:r>
            <a:r>
              <a:rPr lang="en-US" sz="2200" dirty="0"/>
              <a:t> </a:t>
            </a:r>
            <a:r>
              <a:rPr lang="en-US" sz="2200" dirty="0" err="1"/>
              <a:t>informasi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satu</a:t>
            </a:r>
            <a:r>
              <a:rPr lang="en-US" sz="2200" dirty="0"/>
              <a:t> </a:t>
            </a:r>
            <a:r>
              <a:rPr lang="en-US" sz="2200" dirty="0" err="1"/>
              <a:t>tabel</a:t>
            </a:r>
            <a:r>
              <a:rPr lang="en-US" sz="2200" dirty="0"/>
              <a:t> (</a:t>
            </a:r>
            <a:r>
              <a:rPr lang="en-US" sz="2200" dirty="0" err="1"/>
              <a:t>maks</a:t>
            </a:r>
            <a:r>
              <a:rPr lang="en-US" sz="2200" dirty="0"/>
              <a:t> 4 – 5 </a:t>
            </a:r>
            <a:r>
              <a:rPr lang="en-US" sz="2200" dirty="0" err="1"/>
              <a:t>kolom</a:t>
            </a:r>
            <a:r>
              <a:rPr lang="en-US" sz="2200" dirty="0"/>
              <a:t>).  </a:t>
            </a:r>
            <a:endParaRPr lang="en-ID" sz="2200" dirty="0"/>
          </a:p>
        </p:txBody>
      </p:sp>
      <p:sp>
        <p:nvSpPr>
          <p:cNvPr id="9" name="Slide Number Placeholder 25">
            <a:extLst>
              <a:ext uri="{FF2B5EF4-FFF2-40B4-BE49-F238E27FC236}">
                <a16:creationId xmlns:a16="http://schemas.microsoft.com/office/drawing/2014/main" id="{3D88B1A9-F3C4-4B58-8815-607D2CD2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7" y="6492875"/>
            <a:ext cx="2743200" cy="365125"/>
          </a:xfrm>
        </p:spPr>
        <p:txBody>
          <a:bodyPr/>
          <a:lstStyle/>
          <a:p>
            <a:fld id="{1F6B1E3E-D31D-4883-9C85-6F8F20CA2901}" type="slidenum">
              <a:rPr lang="en-US" sz="1400" b="1" smtClean="0">
                <a:solidFill>
                  <a:schemeClr val="bg1"/>
                </a:solidFill>
              </a:rPr>
              <a:t>8</a:t>
            </a:fld>
            <a:endParaRPr lang="en-US" sz="1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97B5A79-9504-43C7-90D7-B55CB92072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9008476"/>
                  </p:ext>
                </p:extLst>
              </p:nvPr>
            </p:nvGraphicFramePr>
            <p:xfrm>
              <a:off x="5400675" y="1846159"/>
              <a:ext cx="5619752" cy="34297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93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246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0493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85957">
                    <a:tc>
                      <a:txBody>
                        <a:bodyPr/>
                        <a:lstStyle/>
                        <a:p>
                          <a:pPr algn="ctr">
                            <a:defRPr sz="18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 err="1"/>
                            <a:t>Variabel</a:t>
                          </a:r>
                          <a:endParaRPr dirty="0"/>
                        </a:p>
                      </a:txBody>
                      <a:tcPr>
                        <a:solidFill>
                          <a:srgbClr val="0A23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 err="1"/>
                            <a:t>Koefisien</a:t>
                          </a:r>
                          <a:r>
                            <a:rPr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ID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oMath>
                          </a14:m>
                          <a:r>
                            <a:rPr dirty="0"/>
                            <a:t>)</a:t>
                          </a:r>
                        </a:p>
                      </a:txBody>
                      <a:tcPr>
                        <a:solidFill>
                          <a:srgbClr val="0A23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t>t-hitung</a:t>
                          </a:r>
                        </a:p>
                      </a:txBody>
                      <a:tcPr>
                        <a:solidFill>
                          <a:srgbClr val="0A23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/>
                            <a:t>Sig.</a:t>
                          </a:r>
                          <a:endParaRPr lang="en-US" dirty="0"/>
                        </a:p>
                        <a:p>
                          <a:pPr algn="ctr">
                            <a:defRPr sz="18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/>
                            <a:t> (p-value)</a:t>
                          </a:r>
                        </a:p>
                      </a:txBody>
                      <a:tcPr>
                        <a:solidFill>
                          <a:srgbClr val="0A234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957">
                    <a:tc>
                      <a:txBody>
                        <a:bodyPr/>
                        <a:lstStyle/>
                        <a:p>
                          <a:pPr algn="l">
                            <a:defRPr sz="1800">
                              <a:latin typeface="Calibri"/>
                            </a:defRPr>
                          </a:pPr>
                          <a:r>
                            <a:rPr dirty="0" err="1"/>
                            <a:t>Intersep</a:t>
                          </a:r>
                          <a:endParaRPr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2.145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3.21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0.002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957">
                    <a:tc>
                      <a:txBody>
                        <a:bodyPr/>
                        <a:lstStyle/>
                        <a:p>
                          <a:pPr algn="l">
                            <a:defRPr sz="1800">
                              <a:latin typeface="Calibri"/>
                            </a:defRPr>
                          </a:pPr>
                          <a14:m>
                            <m:oMath xmlns:m="http://schemas.openxmlformats.org/officeDocument/2006/math">
                              <m:r>
                                <a:rPr lang="en-ID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D" i="1" dirty="0" smtClean="0">
                                  <a:latin typeface="Cambria Math" panose="02040503050406030204" pitchFamily="18" charset="0"/>
                                </a:rPr>
                                <m:t>₁</m:t>
                              </m:r>
                            </m:oMath>
                          </a14:m>
                          <a:r>
                            <a:rPr dirty="0"/>
                            <a:t>(Motivasi)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0.356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2.98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0.004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957">
                    <a:tc>
                      <a:txBody>
                        <a:bodyPr/>
                        <a:lstStyle/>
                        <a:p>
                          <a:pPr algn="l">
                            <a:defRPr sz="1800">
                              <a:latin typeface="Calibri"/>
                            </a:defRPr>
                          </a:pPr>
                          <a14:m>
                            <m:oMath xmlns:m="http://schemas.openxmlformats.org/officeDocument/2006/math">
                              <m:r>
                                <a:rPr lang="en-ID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D" i="1" dirty="0" smtClean="0">
                                  <a:latin typeface="Cambria Math" panose="02040503050406030204" pitchFamily="18" charset="0"/>
                                </a:rPr>
                                <m:t>₂</m:t>
                              </m:r>
                            </m:oMath>
                          </a14:m>
                          <a:r>
                            <a:rPr dirty="0"/>
                            <a:t> (</a:t>
                          </a:r>
                          <a:r>
                            <a:rPr dirty="0" err="1"/>
                            <a:t>Disiplin</a:t>
                          </a:r>
                          <a:r>
                            <a:rPr dirty="0"/>
                            <a:t>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0.412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3.45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0.001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5957">
                    <a:tc>
                      <a:txBody>
                        <a:bodyPr/>
                        <a:lstStyle/>
                        <a:p>
                          <a:pPr algn="l">
                            <a:defRPr sz="1800">
                              <a:latin typeface="Calibri"/>
                            </a:defRPr>
                          </a:pPr>
                          <a14:m>
                            <m:oMath xmlns:m="http://schemas.openxmlformats.org/officeDocument/2006/math">
                              <m:r>
                                <a:rPr lang="en-ID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D" i="1" dirty="0" smtClean="0">
                                  <a:latin typeface="Cambria Math" panose="02040503050406030204" pitchFamily="18" charset="0"/>
                                </a:rPr>
                                <m:t>₃</m:t>
                              </m:r>
                            </m:oMath>
                          </a14:m>
                          <a:r>
                            <a:rPr dirty="0"/>
                            <a:t> (</a:t>
                          </a:r>
                          <a:r>
                            <a:rPr dirty="0" err="1"/>
                            <a:t>Lingkungan</a:t>
                          </a:r>
                          <a:r>
                            <a:rPr dirty="0"/>
                            <a:t>)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0.187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1.95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0.054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97B5A79-9504-43C7-90D7-B55CB92072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9008476"/>
                  </p:ext>
                </p:extLst>
              </p:nvPr>
            </p:nvGraphicFramePr>
            <p:xfrm>
              <a:off x="5400675" y="1846159"/>
              <a:ext cx="5619752" cy="34297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93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246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0493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85957">
                    <a:tc>
                      <a:txBody>
                        <a:bodyPr/>
                        <a:lstStyle/>
                        <a:p>
                          <a:pPr algn="ctr">
                            <a:defRPr sz="18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 err="1"/>
                            <a:t>Variabel</a:t>
                          </a:r>
                          <a:endParaRPr dirty="0"/>
                        </a:p>
                      </a:txBody>
                      <a:tcPr>
                        <a:solidFill>
                          <a:srgbClr val="0A23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4562" t="-4425" r="-193088" b="-4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t>t-hitung</a:t>
                          </a:r>
                        </a:p>
                      </a:txBody>
                      <a:tcPr>
                        <a:solidFill>
                          <a:srgbClr val="0A23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/>
                            <a:t>Sig.</a:t>
                          </a:r>
                          <a:endParaRPr lang="en-US" dirty="0"/>
                        </a:p>
                        <a:p>
                          <a:pPr algn="ctr">
                            <a:defRPr sz="18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/>
                            <a:t> (p-value)</a:t>
                          </a:r>
                        </a:p>
                      </a:txBody>
                      <a:tcPr>
                        <a:solidFill>
                          <a:srgbClr val="0A234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957">
                    <a:tc>
                      <a:txBody>
                        <a:bodyPr/>
                        <a:lstStyle/>
                        <a:p>
                          <a:pPr algn="l">
                            <a:defRPr sz="1800">
                              <a:latin typeface="Calibri"/>
                            </a:defRPr>
                          </a:pPr>
                          <a:r>
                            <a:rPr dirty="0" err="1"/>
                            <a:t>Intersep</a:t>
                          </a:r>
                          <a:endParaRPr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2.145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3.21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0.002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9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4" t="-206250" r="-218557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0.356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2.98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0.004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9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4" t="-303540" r="-218557" b="-10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0.412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3.45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0.001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59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4" t="-403540" r="-218557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0.187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1.95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800">
                              <a:latin typeface="Calibri"/>
                            </a:defRPr>
                          </a:pPr>
                          <a:r>
                            <a:rPr dirty="0"/>
                            <a:t>0.054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1413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15799"/>
    </mc:Choice>
    <mc:Fallback>
      <p:transition spd="slow" advTm="1579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653C2-4E5C-474B-9256-C092249F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5" y="340318"/>
            <a:ext cx="1285875" cy="51672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D1980A7-5093-4378-8F31-F07CA248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400" dirty="0" err="1">
                <a:latin typeface="Georgia Pro Cond" panose="02040506050405020303" pitchFamily="18" charset="0"/>
              </a:rPr>
              <a:t>Penyajian</a:t>
            </a:r>
            <a:r>
              <a:rPr lang="en-US" sz="3400" dirty="0">
                <a:latin typeface="Georgia Pro Cond" panose="02040506050405020303" pitchFamily="18" charset="0"/>
              </a:rPr>
              <a:t> </a:t>
            </a:r>
            <a:r>
              <a:rPr lang="en-US" sz="3400" dirty="0" err="1">
                <a:latin typeface="Georgia Pro Cond" panose="02040506050405020303" pitchFamily="18" charset="0"/>
              </a:rPr>
              <a:t>Grafik</a:t>
            </a:r>
            <a:r>
              <a:rPr lang="en-US" sz="3400" dirty="0">
                <a:latin typeface="Georgia Pro Cond" panose="02040506050405020303" pitchFamily="18" charset="0"/>
              </a:rPr>
              <a:t> dan Gambar</a:t>
            </a:r>
            <a:endParaRPr lang="en-AU" sz="3400" dirty="0">
              <a:latin typeface="Georgia Pro Cond" panose="020405060504050203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B4429-7513-4981-A3FF-E30D50893B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Gunakan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gambar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dan visual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berkualitas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tinggi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untuk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meningkatkan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pemahaman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dan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keterlbatan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audiens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  <a:p>
            <a:pPr algn="just"/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Pastikan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kejelasan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tampilan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dengan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menjaga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margin yang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memadai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Sertakan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keterangan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(caption) 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yang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ringkas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dan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informatif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untuk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menjelaskan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relevansi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setiap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gambar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terhadap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materi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yang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disampaikan</a:t>
            </a:r>
            <a:endParaRPr lang="en-ID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76D390-D715-4296-90DF-A60E2764C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614" y="1513382"/>
            <a:ext cx="4460953" cy="4842968"/>
          </a:xfrm>
          <a:prstGeom prst="rect">
            <a:avLst/>
          </a:prstGeom>
        </p:spPr>
      </p:pic>
      <p:sp>
        <p:nvSpPr>
          <p:cNvPr id="14" name="Slide Number Placeholder 25">
            <a:extLst>
              <a:ext uri="{FF2B5EF4-FFF2-40B4-BE49-F238E27FC236}">
                <a16:creationId xmlns:a16="http://schemas.microsoft.com/office/drawing/2014/main" id="{A220BEAB-69FA-43AD-8C7F-0B922CFC3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7" y="6492875"/>
            <a:ext cx="2743200" cy="365125"/>
          </a:xfrm>
        </p:spPr>
        <p:txBody>
          <a:bodyPr/>
          <a:lstStyle/>
          <a:p>
            <a:fld id="{1F6B1E3E-D31D-4883-9C85-6F8F20CA2901}" type="slidenum">
              <a:rPr lang="en-US" sz="1400" b="1" smtClean="0">
                <a:solidFill>
                  <a:schemeClr val="bg1"/>
                </a:solidFill>
              </a:rPr>
              <a:t>9</a:t>
            </a:fld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845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15799"/>
    </mc:Choice>
    <mc:Fallback>
      <p:transition spd="slow" advTm="1579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653C2-4E5C-474B-9256-C092249F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5" y="340318"/>
            <a:ext cx="1285875" cy="51672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D1980A7-5093-4378-8F31-F07CA248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5262" y="365125"/>
            <a:ext cx="7348537" cy="1325563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Georgia Pro Cond" panose="02040506050405020303" pitchFamily="18" charset="0"/>
              </a:rPr>
              <a:t>Daftar Pustaka</a:t>
            </a:r>
            <a:endParaRPr lang="en-AU" sz="3400" dirty="0">
              <a:latin typeface="Georgia Pro Cond" panose="020405060504050203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B4429-7513-4981-A3FF-E30D50893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0106" y="1715495"/>
            <a:ext cx="2725132" cy="4351338"/>
          </a:xfrm>
        </p:spPr>
        <p:txBody>
          <a:bodyPr>
            <a:normAutofit/>
          </a:bodyPr>
          <a:lstStyle/>
          <a:p>
            <a:pPr algn="just"/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Gunakan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1" i="1" dirty="0">
                <a:latin typeface="Roboto" panose="02000000000000000000" pitchFamily="2" charset="0"/>
                <a:ea typeface="Roboto" panose="02000000000000000000" pitchFamily="2" charset="0"/>
              </a:rPr>
              <a:t>hanging indent 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Konsistensi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format,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misal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APA </a:t>
            </a:r>
            <a:r>
              <a:rPr lang="en-US" sz="2200" dirty="0" err="1">
                <a:latin typeface="Roboto" panose="02000000000000000000" pitchFamily="2" charset="0"/>
                <a:ea typeface="Roboto" panose="02000000000000000000" pitchFamily="2" charset="0"/>
              </a:rPr>
              <a:t>atau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 MLA</a:t>
            </a:r>
          </a:p>
          <a:p>
            <a:pPr algn="just"/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</a:rPr>
              <a:t>Panduan: </a:t>
            </a:r>
            <a:r>
              <a:rPr lang="en-US" sz="2200" dirty="0">
                <a:hlinkClick r:id="rId3"/>
              </a:rPr>
              <a:t>Citation Styles and Guides | Writing and Communication Centre | University of Waterloo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CE1DE5-CEA1-4834-AC3E-E3294202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7606" y="1559853"/>
            <a:ext cx="796643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D" sz="1800" dirty="0" err="1">
                <a:latin typeface="Calibri (Body)"/>
              </a:rPr>
              <a:t>Agresti</a:t>
            </a:r>
            <a:r>
              <a:rPr lang="en-ID" sz="1800" dirty="0">
                <a:latin typeface="Calibri (Body)"/>
              </a:rPr>
              <a:t>, A. (2018). </a:t>
            </a:r>
            <a:r>
              <a:rPr lang="en-ID" sz="1800" i="1" dirty="0">
                <a:latin typeface="Calibri (Body)"/>
              </a:rPr>
              <a:t>Statistical methods for the social sciences</a:t>
            </a:r>
            <a:r>
              <a:rPr lang="en-ID" sz="1800" dirty="0">
                <a:latin typeface="Calibri (Body)"/>
              </a:rPr>
              <a:t> (5th ed.). Pearson.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D" sz="1800" dirty="0">
                <a:latin typeface="Calibri (Body)"/>
              </a:rPr>
              <a:t>Gelman, A., Carlin, J. B., Stern, H. S., Dunson, D. B., </a:t>
            </a:r>
            <a:r>
              <a:rPr lang="en-ID" sz="1800" dirty="0" err="1">
                <a:latin typeface="Calibri (Body)"/>
              </a:rPr>
              <a:t>Vehtari</a:t>
            </a:r>
            <a:r>
              <a:rPr lang="en-ID" sz="1800" dirty="0">
                <a:latin typeface="Calibri (Body)"/>
              </a:rPr>
              <a:t>, A., &amp; Rubin, D. B.</a:t>
            </a:r>
            <a:br>
              <a:rPr lang="en-ID" sz="1800" dirty="0">
                <a:latin typeface="Calibri (Body)"/>
              </a:rPr>
            </a:br>
            <a:r>
              <a:rPr lang="en-ID" sz="1800" dirty="0">
                <a:latin typeface="Calibri (Body)"/>
              </a:rPr>
              <a:t>  (2013). </a:t>
            </a:r>
            <a:r>
              <a:rPr lang="en-ID" sz="1800" i="1" dirty="0">
                <a:latin typeface="Calibri (Body)"/>
              </a:rPr>
              <a:t>Bayesian data analysis</a:t>
            </a:r>
            <a:r>
              <a:rPr lang="en-ID" sz="1800" dirty="0">
                <a:latin typeface="Calibri (Body)"/>
              </a:rPr>
              <a:t> (3rd ed.). CRC Press.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D" sz="1800" dirty="0" err="1">
                <a:latin typeface="Calibri (Body)"/>
              </a:rPr>
              <a:t>Tibshirani</a:t>
            </a:r>
            <a:r>
              <a:rPr lang="en-ID" sz="1800" dirty="0">
                <a:latin typeface="Calibri (Body)"/>
              </a:rPr>
              <a:t>, R. (1996). Regression shrinkage and selection via the Lasso.</a:t>
            </a:r>
            <a:br>
              <a:rPr lang="en-ID" sz="1800" dirty="0">
                <a:latin typeface="Calibri (Body)"/>
              </a:rPr>
            </a:br>
            <a:r>
              <a:rPr lang="en-ID" sz="1800" dirty="0">
                <a:latin typeface="Calibri (Body)"/>
              </a:rPr>
              <a:t>  </a:t>
            </a:r>
            <a:r>
              <a:rPr lang="en-ID" sz="1800" i="1" dirty="0">
                <a:latin typeface="Calibri (Body)"/>
              </a:rPr>
              <a:t>Journal of the Royal Statistical Society: Series B (Methodological), 58</a:t>
            </a:r>
            <a:r>
              <a:rPr lang="en-ID" sz="1800" dirty="0">
                <a:latin typeface="Calibri (Body)"/>
              </a:rPr>
              <a:t>(1),</a:t>
            </a:r>
            <a:br>
              <a:rPr lang="en-ID" sz="1800" dirty="0">
                <a:latin typeface="Calibri (Body)"/>
              </a:rPr>
            </a:br>
            <a:r>
              <a:rPr lang="en-ID" sz="1800" dirty="0">
                <a:latin typeface="Calibri (Body)"/>
              </a:rPr>
              <a:t>  267–288. </a:t>
            </a:r>
            <a:r>
              <a:rPr lang="en-ID" sz="1800" dirty="0">
                <a:latin typeface="Calibri (Body)"/>
                <a:hlinkClick r:id="rId4"/>
              </a:rPr>
              <a:t>https://doi.org/10.1111/j.2517-6161.1996.tb02080.x</a:t>
            </a:r>
            <a:endParaRPr lang="en-ID" sz="1800" dirty="0">
              <a:latin typeface="Calibri (Body)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D" sz="1800" dirty="0">
                <a:latin typeface="Calibri (Body)"/>
              </a:rPr>
              <a:t>Wasserstein, R. L., &amp; Lazar, N. A. (2016). The ASA statement on p-values:</a:t>
            </a:r>
            <a:br>
              <a:rPr lang="en-ID" sz="1800" dirty="0">
                <a:latin typeface="Calibri (Body)"/>
              </a:rPr>
            </a:br>
            <a:r>
              <a:rPr lang="en-ID" sz="1800" dirty="0">
                <a:latin typeface="Calibri (Body)"/>
              </a:rPr>
              <a:t>  Context, process, and purpose. </a:t>
            </a:r>
            <a:r>
              <a:rPr lang="en-ID" sz="1800" i="1" dirty="0">
                <a:latin typeface="Calibri (Body)"/>
              </a:rPr>
              <a:t>The American Statistician, 70</a:t>
            </a:r>
            <a:r>
              <a:rPr lang="en-ID" sz="1800" dirty="0">
                <a:latin typeface="Calibri (Body)"/>
              </a:rPr>
              <a:t>(2),</a:t>
            </a:r>
            <a:br>
              <a:rPr lang="en-ID" sz="1800" dirty="0">
                <a:latin typeface="Calibri (Body)"/>
              </a:rPr>
            </a:br>
            <a:r>
              <a:rPr lang="en-ID" sz="1800" dirty="0">
                <a:latin typeface="Calibri (Body)"/>
              </a:rPr>
              <a:t>  129–133. </a:t>
            </a:r>
            <a:r>
              <a:rPr lang="en-ID" sz="1800" dirty="0">
                <a:latin typeface="Calibri (Body)"/>
                <a:hlinkClick r:id="rId5"/>
              </a:rPr>
              <a:t>https://doi.org/10.1080/00031305.2016.1154108</a:t>
            </a:r>
            <a:endParaRPr lang="en-ID" sz="1800" dirty="0">
              <a:latin typeface="Calibri (Body)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D" sz="1800" dirty="0">
                <a:latin typeface="Calibri (Body)"/>
              </a:rPr>
              <a:t>Badan Pusat </a:t>
            </a:r>
            <a:r>
              <a:rPr lang="en-ID" sz="1800" dirty="0" err="1">
                <a:latin typeface="Calibri (Body)"/>
              </a:rPr>
              <a:t>Statistik</a:t>
            </a:r>
            <a:r>
              <a:rPr lang="en-ID" sz="1800" dirty="0">
                <a:latin typeface="Calibri (Body)"/>
              </a:rPr>
              <a:t>. (2023). </a:t>
            </a:r>
            <a:r>
              <a:rPr lang="en-ID" sz="1800" i="1" dirty="0" err="1">
                <a:latin typeface="Calibri (Body)"/>
              </a:rPr>
              <a:t>Statistik</a:t>
            </a:r>
            <a:r>
              <a:rPr lang="en-ID" sz="1800" i="1" dirty="0">
                <a:latin typeface="Calibri (Body)"/>
              </a:rPr>
              <a:t> Indonesia 2023</a:t>
            </a:r>
            <a:r>
              <a:rPr lang="en-ID" sz="1800" dirty="0">
                <a:latin typeface="Calibri (Body)"/>
              </a:rPr>
              <a:t>.</a:t>
            </a:r>
            <a:br>
              <a:rPr lang="en-ID" sz="1800" dirty="0">
                <a:latin typeface="Calibri (Body)"/>
              </a:rPr>
            </a:br>
            <a:r>
              <a:rPr lang="en-ID" sz="1800" dirty="0">
                <a:latin typeface="Calibri (Body)"/>
              </a:rPr>
              <a:t>  </a:t>
            </a:r>
            <a:r>
              <a:rPr lang="en-ID" sz="1800" dirty="0">
                <a:latin typeface="Calibri (Body)"/>
                <a:hlinkClick r:id="rId6"/>
              </a:rPr>
              <a:t>https://www.bps.go.id</a:t>
            </a:r>
            <a:endParaRPr lang="en-ID" sz="1800" dirty="0">
              <a:latin typeface="Calibri (Body)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D" sz="1800" dirty="0">
                <a:latin typeface="Calibri (Body)"/>
              </a:rPr>
              <a:t>R Core Team. (2023). </a:t>
            </a:r>
            <a:r>
              <a:rPr lang="en-ID" sz="1800" i="1" dirty="0">
                <a:latin typeface="Calibri (Body)"/>
              </a:rPr>
              <a:t>R: A language and environment for statistical computing</a:t>
            </a:r>
            <a:br>
              <a:rPr lang="en-ID" sz="1800" dirty="0">
                <a:latin typeface="Calibri (Body)"/>
              </a:rPr>
            </a:br>
            <a:r>
              <a:rPr lang="en-ID" sz="1800" dirty="0">
                <a:latin typeface="Calibri (Body)"/>
              </a:rPr>
              <a:t>  (Version 4.3) [Computer software]. R Foundation for Statistical Computing.</a:t>
            </a:r>
            <a:br>
              <a:rPr lang="en-ID" sz="1800" dirty="0">
                <a:latin typeface="Calibri (Body)"/>
              </a:rPr>
            </a:br>
            <a:r>
              <a:rPr lang="en-ID" sz="1800" dirty="0">
                <a:latin typeface="Calibri (Body)"/>
              </a:rPr>
              <a:t>  </a:t>
            </a:r>
            <a:r>
              <a:rPr lang="en-ID" sz="1800" dirty="0">
                <a:latin typeface="Calibri (Body)"/>
                <a:hlinkClick r:id="rId7"/>
              </a:rPr>
              <a:t>https://www.r-project.org/</a:t>
            </a:r>
            <a:endParaRPr lang="en-ID" sz="1800" dirty="0">
              <a:latin typeface="Calibri (Body)"/>
            </a:endParaRPr>
          </a:p>
          <a:p>
            <a:pPr marL="0" indent="0">
              <a:lnSpc>
                <a:spcPct val="100000"/>
              </a:lnSpc>
              <a:buNone/>
            </a:pPr>
            <a:endParaRPr lang="en-ID" sz="1800" dirty="0">
              <a:latin typeface="Calibri (Body)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593FCC-9AC9-42C3-9F87-171DB57B2724}"/>
              </a:ext>
            </a:extLst>
          </p:cNvPr>
          <p:cNvSpPr/>
          <p:nvPr/>
        </p:nvSpPr>
        <p:spPr>
          <a:xfrm>
            <a:off x="3563332" y="1346943"/>
            <a:ext cx="204281" cy="51459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Slide Number Placeholder 25">
            <a:extLst>
              <a:ext uri="{FF2B5EF4-FFF2-40B4-BE49-F238E27FC236}">
                <a16:creationId xmlns:a16="http://schemas.microsoft.com/office/drawing/2014/main" id="{124C7599-955A-4961-AC49-A0376AE5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7" y="6492875"/>
            <a:ext cx="2743200" cy="365125"/>
          </a:xfrm>
        </p:spPr>
        <p:txBody>
          <a:bodyPr/>
          <a:lstStyle/>
          <a:p>
            <a:fld id="{1F6B1E3E-D31D-4883-9C85-6F8F20CA2901}" type="slidenum">
              <a:rPr lang="en-US" sz="1400" b="1" smtClean="0">
                <a:solidFill>
                  <a:schemeClr val="bg1"/>
                </a:solidFill>
              </a:rPr>
              <a:t>10</a:t>
            </a:fld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569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15799"/>
    </mc:Choice>
    <mc:Fallback>
      <p:transition spd="slow" advTm="1579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/>
          <p:cNvPicPr preferRelativeResize="0"/>
          <p:nvPr/>
        </p:nvPicPr>
        <p:blipFill rotWithShape="1">
          <a:blip r:embed="rId3">
            <a:alphaModFix/>
          </a:blip>
          <a:srcRect t="7317" b="22640"/>
          <a:stretch/>
        </p:blipFill>
        <p:spPr>
          <a:xfrm>
            <a:off x="0" y="352236"/>
            <a:ext cx="12192000" cy="613847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/>
          <p:nvPr/>
        </p:nvSpPr>
        <p:spPr>
          <a:xfrm>
            <a:off x="3138034" y="3781519"/>
            <a:ext cx="7178675" cy="857250"/>
          </a:xfrm>
          <a:prstGeom prst="roundRect">
            <a:avLst>
              <a:gd name="adj" fmla="val 16667"/>
            </a:avLst>
          </a:prstGeom>
          <a:solidFill>
            <a:srgbClr val="7F7F7F">
              <a:alpha val="5803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428875" y="3448493"/>
            <a:ext cx="73342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6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Terima</a:t>
            </a:r>
            <a:r>
              <a:rPr lang="en-US" sz="4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Kasih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28819C-90A0-4D37-8088-21B2DF33E92D}"/>
              </a:ext>
            </a:extLst>
          </p:cNvPr>
          <p:cNvSpPr/>
          <p:nvPr/>
        </p:nvSpPr>
        <p:spPr>
          <a:xfrm>
            <a:off x="0" y="5998256"/>
            <a:ext cx="12192000" cy="8254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n-NO" sz="18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nn-NO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nn-NO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 Studi S1 Statistika, Departemen Matematika</a:t>
            </a:r>
          </a:p>
          <a:p>
            <a:pPr algn="ctr"/>
            <a:r>
              <a:rPr lang="en-US" sz="1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Fakultas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Matematika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US" sz="1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Ilmu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Pengetahuan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Alam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(FMIPA) - Universitas Indonesia</a:t>
            </a:r>
          </a:p>
          <a:p>
            <a:pPr algn="ctr"/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Gedung D, </a:t>
            </a:r>
            <a:r>
              <a:rPr lang="en-US" sz="12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Kampus</a:t>
            </a: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UI, Depok 16424, Telp. +62-21-7862719, Fax. +62-21-7863439, Email. stats@sci.ui.ac.id</a:t>
            </a:r>
            <a:endParaRPr lang="en-US" dirty="0"/>
          </a:p>
          <a:p>
            <a:pPr algn="ctr"/>
            <a:endParaRPr lang="nn-NO" dirty="0"/>
          </a:p>
          <a:p>
            <a:pPr algn="ctr"/>
            <a:endParaRPr lang="en-ID" dirty="0"/>
          </a:p>
        </p:txBody>
      </p:sp>
      <p:sp>
        <p:nvSpPr>
          <p:cNvPr id="17" name="Slide Number Placeholder 25">
            <a:extLst>
              <a:ext uri="{FF2B5EF4-FFF2-40B4-BE49-F238E27FC236}">
                <a16:creationId xmlns:a16="http://schemas.microsoft.com/office/drawing/2014/main" id="{08072B4B-BD11-44FF-92A7-9C4AFC8FE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7" y="6492875"/>
            <a:ext cx="2743200" cy="365125"/>
          </a:xfrm>
        </p:spPr>
        <p:txBody>
          <a:bodyPr/>
          <a:lstStyle/>
          <a:p>
            <a:fld id="{1F6B1E3E-D31D-4883-9C85-6F8F20CA2901}" type="slidenum">
              <a:rPr lang="en-US" sz="1400" b="1" smtClean="0">
                <a:solidFill>
                  <a:schemeClr val="bg1"/>
                </a:solidFill>
              </a:rPr>
              <a:t>11</a:t>
            </a:fld>
            <a:endParaRPr 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23589</TotalTime>
  <Words>817</Words>
  <Application>Microsoft Office PowerPoint</Application>
  <PresentationFormat>Widescreen</PresentationFormat>
  <Paragraphs>113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Cambria Math</vt:lpstr>
      <vt:lpstr>Century Gothic</vt:lpstr>
      <vt:lpstr>Georgia Pro Cond</vt:lpstr>
      <vt:lpstr>Roboto</vt:lpstr>
      <vt:lpstr>Office Theme</vt:lpstr>
      <vt:lpstr>Judul Skripsi (36-44 pt)</vt:lpstr>
      <vt:lpstr>Panduan Umum: judul slide </vt:lpstr>
      <vt:lpstr>Panduan Umum: lanjutan </vt:lpstr>
      <vt:lpstr>Outline </vt:lpstr>
      <vt:lpstr>Pedoman Tipografi dan Warna</vt:lpstr>
      <vt:lpstr>Metode Penelitian</vt:lpstr>
      <vt:lpstr>Pengaturan Layout </vt:lpstr>
      <vt:lpstr>Penyajian Tabel</vt:lpstr>
      <vt:lpstr>Penyajian Grafik dan Gambar</vt:lpstr>
      <vt:lpstr>Daftar Pustaka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Nahid Ahmed</dc:creator>
  <cp:lastModifiedBy>Sarini Abdullah</cp:lastModifiedBy>
  <cp:revision>551</cp:revision>
  <cp:lastPrinted>2020-05-26T12:46:06Z</cp:lastPrinted>
  <dcterms:created xsi:type="dcterms:W3CDTF">2017-10-30T13:02:30Z</dcterms:created>
  <dcterms:modified xsi:type="dcterms:W3CDTF">2026-02-14T06:03:22Z</dcterms:modified>
</cp:coreProperties>
</file>